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1add3e8d654805" /><Relationship Type="http://schemas.openxmlformats.org/officeDocument/2006/relationships/extended-properties" Target="/docProps/app.xml" Id="R990e927773e54ca1" /><Relationship Type="http://schemas.openxmlformats.org/officeDocument/2006/relationships/officeDocument" Target="/ppt/presentation.xml" Id="R34b9f9b6eb9d40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e0b9196678440a"/>
  </p:sldMasterIdLst>
  <p:notesMasterIdLst>
    <p:notesMasterId xmlns:r="http://schemas.openxmlformats.org/officeDocument/2006/relationships" r:id="R5416493258f540a7"/>
  </p:notesMasterIdLst>
  <p:sldIdLst>
    <p:sldId xmlns:r="http://schemas.openxmlformats.org/officeDocument/2006/relationships" id="256" r:id="R6b82f542adc54cf5"/>
    <p:sldId xmlns:r="http://schemas.openxmlformats.org/officeDocument/2006/relationships" id="257" r:id="R2b928f8e1ba04956"/>
    <p:sldId xmlns:r="http://schemas.openxmlformats.org/officeDocument/2006/relationships" id="258" r:id="Rc4bdbe6995a64f3e"/>
    <p:sldId xmlns:r="http://schemas.openxmlformats.org/officeDocument/2006/relationships" id="259" r:id="R7223d40832b54281"/>
    <p:sldId xmlns:r="http://schemas.openxmlformats.org/officeDocument/2006/relationships" id="260" r:id="R3bd389dd03d34d3b"/>
    <p:sldId xmlns:r="http://schemas.openxmlformats.org/officeDocument/2006/relationships" id="261" r:id="R7289818d66844ec2"/>
    <p:sldId xmlns:r="http://schemas.openxmlformats.org/officeDocument/2006/relationships" id="262" r:id="R8767fe6d4f574af2"/>
    <p:sldId xmlns:r="http://schemas.openxmlformats.org/officeDocument/2006/relationships" id="263" r:id="R42b1f5a9971d47fb"/>
    <p:sldId xmlns:r="http://schemas.openxmlformats.org/officeDocument/2006/relationships" id="264" r:id="Rd2a749d3759e475f"/>
    <p:sldId xmlns:r="http://schemas.openxmlformats.org/officeDocument/2006/relationships" id="265" r:id="R10b94365e5fb4aa7"/>
    <p:sldId xmlns:r="http://schemas.openxmlformats.org/officeDocument/2006/relationships" id="266" r:id="R34b6620d5e924994"/>
    <p:sldId xmlns:r="http://schemas.openxmlformats.org/officeDocument/2006/relationships" id="267" r:id="R9e3bb01d7b274511"/>
    <p:sldId xmlns:r="http://schemas.openxmlformats.org/officeDocument/2006/relationships" id="268" r:id="R3d80823fe8914802"/>
    <p:sldId xmlns:r="http://schemas.openxmlformats.org/officeDocument/2006/relationships" id="269" r:id="Radb568bcd44a4f9e"/>
    <p:sldId xmlns:r="http://schemas.openxmlformats.org/officeDocument/2006/relationships" id="270" r:id="R2e0c8851cfc340f8"/>
    <p:sldId xmlns:r="http://schemas.openxmlformats.org/officeDocument/2006/relationships" id="271" r:id="R71addcef2eef49e8"/>
    <p:sldId xmlns:r="http://schemas.openxmlformats.org/officeDocument/2006/relationships" id="272" r:id="Rd4c07f61c3104715"/>
    <p:sldId xmlns:r="http://schemas.openxmlformats.org/officeDocument/2006/relationships" id="273" r:id="R137422afacb943cc"/>
    <p:sldId xmlns:r="http://schemas.openxmlformats.org/officeDocument/2006/relationships" id="274" r:id="R2f3bb83f411f4f13"/>
    <p:sldId xmlns:r="http://schemas.openxmlformats.org/officeDocument/2006/relationships" id="275" r:id="R0207360575dd4dd6"/>
    <p:sldId xmlns:r="http://schemas.openxmlformats.org/officeDocument/2006/relationships" id="276" r:id="Rec2516f0c7d94f2b"/>
    <p:sldId xmlns:r="http://schemas.openxmlformats.org/officeDocument/2006/relationships" id="277" r:id="R6f129d6c50a54319"/>
    <p:sldId xmlns:r="http://schemas.openxmlformats.org/officeDocument/2006/relationships" id="278" r:id="Reba461c609fc483b"/>
    <p:sldId xmlns:r="http://schemas.openxmlformats.org/officeDocument/2006/relationships" id="279" r:id="R015323f43a76447b"/>
    <p:sldId xmlns:r="http://schemas.openxmlformats.org/officeDocument/2006/relationships" id="280" r:id="R26106818c87d45e6"/>
    <p:sldId xmlns:r="http://schemas.openxmlformats.org/officeDocument/2006/relationships" id="281" r:id="Rff8a0e67c1c14a41"/>
    <p:sldId xmlns:r="http://schemas.openxmlformats.org/officeDocument/2006/relationships" id="282" r:id="R903cb5ac0ec74a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014bc11bd64395" /><Relationship Type="http://schemas.openxmlformats.org/officeDocument/2006/relationships/slideMaster" Target="/ppt/slideMasters/slideMaster1.xml" Id="Re7e0b9196678440a" /><Relationship Type="http://schemas.openxmlformats.org/officeDocument/2006/relationships/notesMaster" Target="/ppt/notesMasters/notesMaster1.xml" Id="R5416493258f540a7" /><Relationship Type="http://schemas.openxmlformats.org/officeDocument/2006/relationships/presProps" Target="/ppt/presProps.xml" Id="R3f653dcf95f34d6d" /><Relationship Type="http://schemas.openxmlformats.org/officeDocument/2006/relationships/tableStyles" Target="/ppt/tableStyles.xml" Id="Rccc0e97cfe3a43e8" /><Relationship Type="http://schemas.openxmlformats.org/officeDocument/2006/relationships/slide" Target="/ppt/slides/slide1.xml" Id="R6b82f542adc54cf5" /><Relationship Type="http://schemas.openxmlformats.org/officeDocument/2006/relationships/slide" Target="/ppt/slides/slide2.xml" Id="R2b928f8e1ba04956" /><Relationship Type="http://schemas.openxmlformats.org/officeDocument/2006/relationships/slide" Target="/ppt/slides/slide3.xml" Id="Rc4bdbe6995a64f3e" /><Relationship Type="http://schemas.openxmlformats.org/officeDocument/2006/relationships/slide" Target="/ppt/slides/slide4.xml" Id="R7223d40832b54281" /><Relationship Type="http://schemas.openxmlformats.org/officeDocument/2006/relationships/slide" Target="/ppt/slides/slide5.xml" Id="R3bd389dd03d34d3b" /><Relationship Type="http://schemas.openxmlformats.org/officeDocument/2006/relationships/slide" Target="/ppt/slides/slide6.xml" Id="R7289818d66844ec2" /><Relationship Type="http://schemas.openxmlformats.org/officeDocument/2006/relationships/slide" Target="/ppt/slides/slide7.xml" Id="R8767fe6d4f574af2" /><Relationship Type="http://schemas.openxmlformats.org/officeDocument/2006/relationships/slide" Target="/ppt/slides/slide8.xml" Id="R42b1f5a9971d47fb" /><Relationship Type="http://schemas.openxmlformats.org/officeDocument/2006/relationships/slide" Target="/ppt/slides/slide9.xml" Id="Rd2a749d3759e475f" /><Relationship Type="http://schemas.openxmlformats.org/officeDocument/2006/relationships/slide" Target="/ppt/slides/slide10.xml" Id="R10b94365e5fb4aa7" /><Relationship Type="http://schemas.openxmlformats.org/officeDocument/2006/relationships/slide" Target="/ppt/slides/slide11.xml" Id="R34b6620d5e924994" /><Relationship Type="http://schemas.openxmlformats.org/officeDocument/2006/relationships/slide" Target="/ppt/slides/slide12.xml" Id="R9e3bb01d7b274511" /><Relationship Type="http://schemas.openxmlformats.org/officeDocument/2006/relationships/slide" Target="/ppt/slides/slide13.xml" Id="R3d80823fe8914802" /><Relationship Type="http://schemas.openxmlformats.org/officeDocument/2006/relationships/slide" Target="/ppt/slides/slide14.xml" Id="Radb568bcd44a4f9e" /><Relationship Type="http://schemas.openxmlformats.org/officeDocument/2006/relationships/slide" Target="/ppt/slides/slide15.xml" Id="R2e0c8851cfc340f8" /><Relationship Type="http://schemas.openxmlformats.org/officeDocument/2006/relationships/slide" Target="/ppt/slides/slide16.xml" Id="R71addcef2eef49e8" /><Relationship Type="http://schemas.openxmlformats.org/officeDocument/2006/relationships/slide" Target="/ppt/slides/slide17.xml" Id="Rd4c07f61c3104715" /><Relationship Type="http://schemas.openxmlformats.org/officeDocument/2006/relationships/slide" Target="/ppt/slides/slide18.xml" Id="R137422afacb943cc" /><Relationship Type="http://schemas.openxmlformats.org/officeDocument/2006/relationships/slide" Target="/ppt/slides/slide19.xml" Id="R2f3bb83f411f4f13" /><Relationship Type="http://schemas.openxmlformats.org/officeDocument/2006/relationships/slide" Target="/ppt/slides/slide20.xml" Id="R0207360575dd4dd6" /><Relationship Type="http://schemas.openxmlformats.org/officeDocument/2006/relationships/slide" Target="/ppt/slides/slide21.xml" Id="Rec2516f0c7d94f2b" /><Relationship Type="http://schemas.openxmlformats.org/officeDocument/2006/relationships/slide" Target="/ppt/slides/slide22.xml" Id="R6f129d6c50a54319" /><Relationship Type="http://schemas.openxmlformats.org/officeDocument/2006/relationships/slide" Target="/ppt/slides/slide23.xml" Id="Reba461c609fc483b" /><Relationship Type="http://schemas.openxmlformats.org/officeDocument/2006/relationships/slide" Target="/ppt/slides/slide24.xml" Id="R015323f43a76447b" /><Relationship Type="http://schemas.openxmlformats.org/officeDocument/2006/relationships/slide" Target="/ppt/slides/slide25.xml" Id="R26106818c87d45e6" /><Relationship Type="http://schemas.openxmlformats.org/officeDocument/2006/relationships/slide" Target="/ppt/slides/slide26.xml" Id="Rff8a0e67c1c14a41" /><Relationship Type="http://schemas.openxmlformats.org/officeDocument/2006/relationships/slide" Target="/ppt/slides/slide27.xml" Id="R903cb5ac0ec74a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08a592c8524f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b6ddcc76f74917" /><Relationship Type="http://schemas.openxmlformats.org/officeDocument/2006/relationships/notesMaster" Target="/ppt/notesMasters/notesMaster1.xml" Id="R5cd8e844ae484f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537fc28f474f4e" /><Relationship Type="http://schemas.openxmlformats.org/officeDocument/2006/relationships/notesMaster" Target="/ppt/notesMasters/notesMaster1.xml" Id="Rf576e1033bc44c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66f70fcb494750" /><Relationship Type="http://schemas.openxmlformats.org/officeDocument/2006/relationships/notesMaster" Target="/ppt/notesMasters/notesMaster1.xml" Id="Rf878adc2a8064b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61d6169f5f478f" /><Relationship Type="http://schemas.openxmlformats.org/officeDocument/2006/relationships/notesMaster" Target="/ppt/notesMasters/notesMaster1.xml" Id="R890ecd66955f45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8b30eaf28345bc" /><Relationship Type="http://schemas.openxmlformats.org/officeDocument/2006/relationships/notesMaster" Target="/ppt/notesMasters/notesMaster1.xml" Id="R5b0fb8bc3f9449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ac5fd69c56403e" /><Relationship Type="http://schemas.openxmlformats.org/officeDocument/2006/relationships/notesMaster" Target="/ppt/notesMasters/notesMaster1.xml" Id="Re7164a65d1644e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6ebd5c1e454ba5" /><Relationship Type="http://schemas.openxmlformats.org/officeDocument/2006/relationships/notesMaster" Target="/ppt/notesMasters/notesMaster1.xml" Id="R502e66b084c346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9744f824e34f62" /><Relationship Type="http://schemas.openxmlformats.org/officeDocument/2006/relationships/notesMaster" Target="/ppt/notesMasters/notesMaster1.xml" Id="Rff9d98ceaf2647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20b1a9fb6e47ca" /><Relationship Type="http://schemas.openxmlformats.org/officeDocument/2006/relationships/notesMaster" Target="/ppt/notesMasters/notesMaster1.xml" Id="Rac755f87c4924d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13414fc0a94ea1" /><Relationship Type="http://schemas.openxmlformats.org/officeDocument/2006/relationships/notesMaster" Target="/ppt/notesMasters/notesMaster1.xml" Id="R8213dcf065f64d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607118b9d1444a" /><Relationship Type="http://schemas.openxmlformats.org/officeDocument/2006/relationships/notesMaster" Target="/ppt/notesMasters/notesMaster1.xml" Id="R4930d312e6874e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6e83ed5b064539" /><Relationship Type="http://schemas.openxmlformats.org/officeDocument/2006/relationships/notesMaster" Target="/ppt/notesMasters/notesMaster1.xml" Id="Rd69806ceacf346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5d234c119d4bfe" /><Relationship Type="http://schemas.openxmlformats.org/officeDocument/2006/relationships/notesMaster" Target="/ppt/notesMasters/notesMaster1.xml" Id="R1abeaa3b562f4b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51a92d390640d3" /><Relationship Type="http://schemas.openxmlformats.org/officeDocument/2006/relationships/notesMaster" Target="/ppt/notesMasters/notesMaster1.xml" Id="R7c73fc222c7844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0dbf47aee64371" /><Relationship Type="http://schemas.openxmlformats.org/officeDocument/2006/relationships/notesMaster" Target="/ppt/notesMasters/notesMaster1.xml" Id="R7b7f52ee72634b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8e2fdfa7a1480a" /><Relationship Type="http://schemas.openxmlformats.org/officeDocument/2006/relationships/notesMaster" Target="/ppt/notesMasters/notesMaster1.xml" Id="R9b7cbfd0962e44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da4f4667e04fff" /><Relationship Type="http://schemas.openxmlformats.org/officeDocument/2006/relationships/notesMaster" Target="/ppt/notesMasters/notesMaster1.xml" Id="R0565f0ffefb04a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42a487bc8b45a8" /><Relationship Type="http://schemas.openxmlformats.org/officeDocument/2006/relationships/notesMaster" Target="/ppt/notesMasters/notesMaster1.xml" Id="R36f48ca6436143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1769a462244382" /><Relationship Type="http://schemas.openxmlformats.org/officeDocument/2006/relationships/notesMaster" Target="/ppt/notesMasters/notesMaster1.xml" Id="R071f2b0eaa2240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d840361e7445a9" /><Relationship Type="http://schemas.openxmlformats.org/officeDocument/2006/relationships/notesMaster" Target="/ppt/notesMasters/notesMaster1.xml" Id="R63f7a706f6d942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f604d1908a4d27" /><Relationship Type="http://schemas.openxmlformats.org/officeDocument/2006/relationships/notesMaster" Target="/ppt/notesMasters/notesMaster1.xml" Id="Rb744c1addc5241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56fcd6f92444d1" /><Relationship Type="http://schemas.openxmlformats.org/officeDocument/2006/relationships/notesMaster" Target="/ppt/notesMasters/notesMaster1.xml" Id="Rfa7a31065192413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6945f11ceb84c97" /><Relationship Type="http://schemas.openxmlformats.org/officeDocument/2006/relationships/notesMaster" Target="/ppt/notesMasters/notesMaster1.xml" Id="Rfc63778012f54cd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f92f331000d43a0" /><Relationship Type="http://schemas.openxmlformats.org/officeDocument/2006/relationships/notesMaster" Target="/ppt/notesMasters/notesMaster1.xml" Id="Ra33793dba4e7452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fe3e277f71a4296" /><Relationship Type="http://schemas.openxmlformats.org/officeDocument/2006/relationships/notesMaster" Target="/ppt/notesMasters/notesMaster1.xml" Id="R62eba688e9a24a0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6dd95c55f15477d" /><Relationship Type="http://schemas.openxmlformats.org/officeDocument/2006/relationships/notesMaster" Target="/ppt/notesMasters/notesMaster1.xml" Id="R17c730ea10d843d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635180cfed74b87" /><Relationship Type="http://schemas.openxmlformats.org/officeDocument/2006/relationships/notesMaster" Target="/ppt/notesMasters/notesMaster1.xml" Id="R489fc7f989454f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建議節奏：1 分鐘</a:t>
            </a:r>
          </a:p>
          <a:p xmlns:a="http://schemas.openxmlformats.org/drawingml/2006/main">
            <a:r>
              <a:t>講者提示：用最後一句定調：這堂課不是把題目全部交給 AI，而是先建立能看懂、能驗證的基礎。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  <a:p xmlns:a="http://schemas.openxmlformats.org/drawingml/2006/main">
            <a:r>
              <a:t>- /home/ai-agent/codex-desktop-project/arduino-generative-ai-workshop/arduino_ai_course_plan.md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建議節奏：2 分鐘</a:t>
            </a:r>
          </a:p>
          <a:p xmlns:a="http://schemas.openxmlformats.org/drawingml/2006/main">
            <a:r>
              <a:t>講者提示：邀請學生先想像：如果遮住感測器，馬達可能怎麼動？此時不要求正確答案。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建議節奏：2 分鐘</a:t>
            </a:r>
          </a:p>
          <a:p xmlns:a="http://schemas.openxmlformats.org/drawingml/2006/main">
            <a:r>
              <a:t>講者提示：說明兩章是同一條學習路徑：先理解，再協作。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建議節奏：3 分鐘</a:t>
            </a:r>
          </a:p>
          <a:p xmlns:a="http://schemas.openxmlformats.org/drawingml/2006/main">
            <a:r>
              <a:t>講者提示：實際指向桌上硬體。強調這堂課不深入電阻公式，也不要求硬背 C++ 型別。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建議節奏：30 秒</a:t>
            </a:r>
          </a:p>
          <a:p xmlns:a="http://schemas.openxmlformats.org/drawingml/2006/main">
            <a:r>
              <a:t>講者提示：章節轉場。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建議節奏：3 分鐘</a:t>
            </a:r>
          </a:p>
          <a:p xmlns:a="http://schemas.openxmlformats.org/drawingml/2006/main">
            <a:r>
              <a:t>講者提示：用生活例子補充：按下電燈開關也是 Input → Process → Output。再回到本課的光線與 Servo。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建議節奏：3 分鐘</a:t>
            </a:r>
          </a:p>
          <a:p xmlns:a="http://schemas.openxmlformats.org/drawingml/2006/main">
            <a:r>
              <a:t>講者提示：快速示範 Arduino IDE 的 Verify/Compile、Upload、板子與 Port 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建議節奏：4 分鐘</a:t>
            </a:r>
          </a:p>
          <a:p xmlns:a="http://schemas.openxmlformats.org/drawingml/2006/main">
            <a:r>
              <a:t>講者提示：請學生用手勢比出一次與重複：setup 舉一次手，loop 連續拍手。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建議節奏：4 分鐘</a:t>
            </a:r>
          </a:p>
          <a:p xmlns:a="http://schemas.openxmlformats.org/drawingml/2006/main">
            <a:r>
              <a:t>講者提示：先讓學生口頭預測，再揭曉 100 ms 的結果。網站實作時會真的修改與 Upload。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建議節奏：3 分鐘</a:t>
            </a:r>
          </a:p>
          <a:p xmlns:a="http://schemas.openxmlformats.org/drawingml/2006/main">
            <a:r>
              <a:t>講者提示：不深入型別系統；重點是『幫資料取一個能理解的名字』。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建議節奏：4 分鐘</a:t>
            </a:r>
          </a:p>
          <a:p xmlns:a="http://schemas.openxmlformats.org/drawingml/2006/main">
            <a:r>
              <a:t>講者提示：只解釋分壓的用途，不推導公式。提醒不同接法可能造成亮時數值變大或變小。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建議節奏：4 分鐘</a:t>
            </a:r>
          </a:p>
          <a:p xmlns:a="http://schemas.openxmlformats.org/drawingml/2006/main">
            <a:r>
              <a:t>講者提示：強調 Arduino 不知道『亮』或『暗』，它只讀到數字；人要透過觀察理解數值方向。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建議節奏：4 分鐘</a:t>
            </a:r>
          </a:p>
          <a:p xmlns:a="http://schemas.openxmlformats.org/drawingml/2006/main">
            <a:r>
              <a:t>講者提示：讓學生用『尺的中間對尺的中間』理解，不推導線性公式。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建議節奏：4 分鐘</a:t>
            </a:r>
          </a:p>
          <a:p xmlns:a="http://schemas.openxmlformats.org/drawingml/2006/main">
            <a:r>
              <a:t>講者提示：不正式教 Class/Object，只把 Servo motor 說成『名字叫 motor 的控制工具』。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建議節奏：5 分鐘</a:t>
            </a:r>
          </a:p>
          <a:p xmlns:a="http://schemas.openxmlformats.org/drawingml/2006/main">
            <a:r>
              <a:t>講者提示：逐行圈出三個核心函式。提醒亮暗方向不符預期時，先看 Serial Monitor，再決定是否把 map 的 0,180 對調。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建議節奏：3 分鐘</a:t>
            </a:r>
          </a:p>
          <a:p xmlns:a="http://schemas.openxmlformats.org/drawingml/2006/main">
            <a:r>
              <a:t>講者提示：用這張投影片連接到第二章：我們不是從零請 AI 猜，而是帶著已理解的概念協作。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建議節奏：30 秒</a:t>
            </a:r>
          </a:p>
          <a:p xmlns:a="http://schemas.openxmlformats.org/drawingml/2006/main">
            <a:r>
              <a:t>講者提示：章節轉場。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建議節奏：4 分鐘</a:t>
            </a:r>
          </a:p>
          <a:p xmlns:a="http://schemas.openxmlformats.org/drawingml/2006/main">
            <a:r>
              <a:t>講者提示：請學生指出 Prompt B 比 A 多了哪些資訊。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建議節奏：5 分鐘</a:t>
            </a:r>
          </a:p>
          <a:p xmlns:a="http://schemas.openxmlformats.org/drawingml/2006/main">
            <a:r>
              <a:t>講者提示：用 Serial 小柵欄當例子快速口述五問答案。強調第五問是決定 AI 的角色，不一定要它直接給完整程式。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  <a:p xmlns:a="http://schemas.openxmlformats.org/drawingml/2006/main">
            <a:r>
              <a:t>- /home/ai-agent/codex-desktop-project/arduino-generative-ai-workshop/content/courses/arduino-ai-intro/prompt-tasks.ts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建議節奏：4 分鐘</a:t>
            </a:r>
          </a:p>
          <a:p xmlns:a="http://schemas.openxmlformats.org/drawingml/2006/main">
            <a:r>
              <a:t>講者提示：區分 Prompt Coach 與外部生成式 AI：前者整理需求；後者依完整 Prompt 協助開發。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建議節奏：4 分鐘</a:t>
            </a:r>
          </a:p>
          <a:p xmlns:a="http://schemas.openxmlformats.org/drawingml/2006/main">
            <a:r>
              <a:t>講者提示：把『D9 還是 D10』當作例子：答案不在模型裡，而在學生眼前的接線。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  <a:p xmlns:a="http://schemas.openxmlformats.org/drawingml/2006/main">
            <a:r>
              <a:t>- /home/ai-agent/codex-desktop-project/arduino-generative-ai-workshop/content/courses/arduino-ai-intro/prompt-tasks.ts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建議節奏：5 分鐘</a:t>
            </a:r>
          </a:p>
          <a:p xmlns:a="http://schemas.openxmlformats.org/drawingml/2006/main">
            <a:r>
              <a:t>講者提示：強調預覽不是裝飾，而是最後一次確認需求是否忠實。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  <a:p xmlns:a="http://schemas.openxmlformats.org/drawingml/2006/main">
            <a:r>
              <a:t>- /home/ai-agent/codex-desktop-project/arduino-generative-ai-workshop/content/courses/arduino-ai-intro/prompt-tasks.ts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建議節奏：4 分鐘</a:t>
            </a:r>
          </a:p>
          <a:p xmlns:a="http://schemas.openxmlformats.org/drawingml/2006/main">
            <a:r>
              <a:t>講者提示：清楚說明網站本身不代替 Arduino IDE，也不把 AI 的回答當作完成。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  <a:p xmlns:a="http://schemas.openxmlformats.org/drawingml/2006/main">
            <a:r>
              <a:t>- /home/ai-agent/codex-desktop-project/arduino-generative-ai-workshop/content/courses/arduino-ai-intro/prompt-tasks.ts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建議節奏：4 分鐘</a:t>
            </a:r>
          </a:p>
          <a:p xmlns:a="http://schemas.openxmlformats.org/drawingml/2006/main">
            <a:r>
              <a:t>講者提示：介紹網站的實測結果分類。提醒『Upload 成功』也不代表硬體一定符合需求。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建議節奏：5 分鐘</a:t>
            </a:r>
          </a:p>
          <a:p xmlns:a="http://schemas.openxmlformats.org/drawingml/2006/main">
            <a:r>
              <a:t>講者提示：示範如何從『Servo 不動』補成可行的 Debug Prompt。強調一次只改少量變因。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建議節奏：4 分鐘</a:t>
            </a:r>
          </a:p>
          <a:p xmlns:a="http://schemas.openxmlformats.org/drawingml/2006/main">
            <a:r>
              <a:t>講者提示：預告網站最終關卡。此處不公布完整解答，只確認學生知道要先觀察亮暗數值方向。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  <a:p xmlns:a="http://schemas.openxmlformats.org/drawingml/2006/main">
            <a:r>
              <a:t>- /home/ai-agent/codex-desktop-project/arduino-generative-ai-workshop/content/courses/arduino-ai-intro/prompt-tasks.ts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建議節奏：2 分鐘</a:t>
            </a:r>
          </a:p>
          <a:p xmlns:a="http://schemas.openxmlformats.org/drawingml/2006/main">
            <a:r>
              <a:t>講者提示：收束後請學生開啟網站，從第一關依序完成。教師可依教室速度決定是否略過已熟悉的小題。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/home/ai-agent/codex-desktop-project/arduino-generative-ai-workshop/content/courses/arduino-ai-intro/course.ts</a:t>
            </a:r>
          </a:p>
          <a:p xmlns:a="http://schemas.openxmlformats.org/drawingml/2006/main">
            <a:r>
              <a:t>- /home/ai-agent/codex-desktop-project/arduino-generative-ai-workshop/arduino_ai_course_plan.md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d9ea06e2d48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d53c4ba0e849c6" /><Relationship Type="http://schemas.openxmlformats.org/officeDocument/2006/relationships/slideLayout" Target="/ppt/slideLayouts/slideLayout1.xml" Id="R0bd948a2dace4a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d948a2dace4a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20c00fce14b55" /><Relationship Type="http://schemas.openxmlformats.org/officeDocument/2006/relationships/notesSlide" Target="/ppt/notesSlides/notesSlide1.xml" Id="Rc3ad960d22e549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5a71170344f9f" /><Relationship Type="http://schemas.openxmlformats.org/officeDocument/2006/relationships/notesSlide" Target="/ppt/notesSlides/notesSlide2.xml" Id="Rdd18aa50a75a4d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fd50ee8b5494a" /><Relationship Type="http://schemas.openxmlformats.org/officeDocument/2006/relationships/notesSlide" Target="/ppt/notesSlides/notesSlide3.xml" Id="R2f7e911e95dc42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1b2ee84854c7b" /><Relationship Type="http://schemas.openxmlformats.org/officeDocument/2006/relationships/notesSlide" Target="/ppt/notesSlides/notesSlide4.xml" Id="R16d5e988f4334b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3dfd84b7a4697" /><Relationship Type="http://schemas.openxmlformats.org/officeDocument/2006/relationships/notesSlide" Target="/ppt/notesSlides/notesSlide5.xml" Id="R7ff256e63a2343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f580dae3643ea" /><Relationship Type="http://schemas.openxmlformats.org/officeDocument/2006/relationships/notesSlide" Target="/ppt/notesSlides/notesSlide6.xml" Id="Refed6b9a501144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fe5d2139347df" /><Relationship Type="http://schemas.openxmlformats.org/officeDocument/2006/relationships/notesSlide" Target="/ppt/notesSlides/notesSlide7.xml" Id="R8bbaf138275344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2dbf7ca5a4423" /><Relationship Type="http://schemas.openxmlformats.org/officeDocument/2006/relationships/notesSlide" Target="/ppt/notesSlides/notesSlide8.xml" Id="Rdb5f5403945946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04fa35f8546f0" /><Relationship Type="http://schemas.openxmlformats.org/officeDocument/2006/relationships/notesSlide" Target="/ppt/notesSlides/notesSlide9.xml" Id="Rcfdd329a87c442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7ec9e600b4a42" /><Relationship Type="http://schemas.openxmlformats.org/officeDocument/2006/relationships/notesSlide" Target="/ppt/notesSlides/notesSlide10.xml" Id="R85894f476fd549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5680685ae4b6b" /><Relationship Type="http://schemas.openxmlformats.org/officeDocument/2006/relationships/notesSlide" Target="/ppt/notesSlides/notesSlide11.xml" Id="R66d123ea2a9449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1f12d575d49cf" /><Relationship Type="http://schemas.openxmlformats.org/officeDocument/2006/relationships/notesSlide" Target="/ppt/notesSlides/notesSlide12.xml" Id="R2c543b50357b43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7ea4ee9de4201" /><Relationship Type="http://schemas.openxmlformats.org/officeDocument/2006/relationships/notesSlide" Target="/ppt/notesSlides/notesSlide13.xml" Id="R00c37158b41a47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6ea08bdfc42db" /><Relationship Type="http://schemas.openxmlformats.org/officeDocument/2006/relationships/notesSlide" Target="/ppt/notesSlides/notesSlide14.xml" Id="R6a0dec3f670142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990fcc9b04c35" /><Relationship Type="http://schemas.openxmlformats.org/officeDocument/2006/relationships/notesSlide" Target="/ppt/notesSlides/notesSlide15.xml" Id="R95ba433ccde34f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2ed6876e14df6" /><Relationship Type="http://schemas.openxmlformats.org/officeDocument/2006/relationships/notesSlide" Target="/ppt/notesSlides/notesSlide16.xml" Id="R7246e5e73e2a49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c233a45b24acb" /><Relationship Type="http://schemas.openxmlformats.org/officeDocument/2006/relationships/notesSlide" Target="/ppt/notesSlides/notesSlide17.xml" Id="R5c2e08a0d18940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5fb2750714e38" /><Relationship Type="http://schemas.openxmlformats.org/officeDocument/2006/relationships/notesSlide" Target="/ppt/notesSlides/notesSlide18.xml" Id="R5c3cce5335684f2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700a8f8dc4ee0" /><Relationship Type="http://schemas.openxmlformats.org/officeDocument/2006/relationships/notesSlide" Target="/ppt/notesSlides/notesSlide19.xml" Id="Rd5b71cf0408a495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59a6a060b4d73" /><Relationship Type="http://schemas.openxmlformats.org/officeDocument/2006/relationships/notesSlide" Target="/ppt/notesSlides/notesSlide20.xml" Id="R32f87b3da0644d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78a28a6954475" /><Relationship Type="http://schemas.openxmlformats.org/officeDocument/2006/relationships/notesSlide" Target="/ppt/notesSlides/notesSlide21.xml" Id="R574fee266b6744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b6f90d2fe40c8" /><Relationship Type="http://schemas.openxmlformats.org/officeDocument/2006/relationships/notesSlide" Target="/ppt/notesSlides/notesSlide22.xml" Id="R90fc56e6af96413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f25a6a3204ab8" /><Relationship Type="http://schemas.openxmlformats.org/officeDocument/2006/relationships/notesSlide" Target="/ppt/notesSlides/notesSlide23.xml" Id="R699d3acb133c4d5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af7fd991941d8" /><Relationship Type="http://schemas.openxmlformats.org/officeDocument/2006/relationships/notesSlide" Target="/ppt/notesSlides/notesSlide24.xml" Id="Rc0caffa5b1f24ef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77e1dd70a4bc1" /><Relationship Type="http://schemas.openxmlformats.org/officeDocument/2006/relationships/notesSlide" Target="/ppt/notesSlides/notesSlide25.xml" Id="R3400c826d86a486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2d9e360a0453e" /><Relationship Type="http://schemas.openxmlformats.org/officeDocument/2006/relationships/notesSlide" Target="/ppt/notesSlides/notesSlide26.xml" Id="R82185f87533b4fd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5420233a74424" /><Relationship Type="http://schemas.openxmlformats.org/officeDocument/2006/relationships/notesSlide" Target="/ppt/notesSlides/notesSlide27.xml" Id="R4c712c87683140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3E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DA20E596-FAC2-4E3E-BA7D-D946FE5E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ARDUINO × GENERATIVE AI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9152F96-09C9-4B5C-AA8F-AB19BB44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4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4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Arduino ×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54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4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生成式 AI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3F1B72B-F310-42A4-AA8F-50CA35A8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D8EFE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D8EFEB"/>
                </a:solidFill>
                <a:latin typeface="Noto Sans CJK TC"/>
                <a:ea typeface="Noto Sans CJK TC"/>
                <a:cs typeface="Noto Sans CJK TC"/>
              </a:rPr>
              <a:t>協作開發體驗課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9ECBBAE-42B9-4CA7-AF7F-94223C6F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先看懂程式，再讓 AI 幫得上忙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A10BA10-30C9-4B55-B53B-92A63EC4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48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BCE5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CE5DC"/>
                </a:solidFill>
                <a:latin typeface="Noto Sans CJK TC"/>
                <a:ea typeface="Noto Sans CJK TC"/>
                <a:cs typeface="Noto Sans CJK TC"/>
              </a:rPr>
              <a:t>初版教學簡報</a:t>
            </a:r>
          </a:p>
        </p:txBody>
      </p:sp>
    </p:spTree>
    <p:extLst>
      <p:ext uri="{BB962C8B-B14F-4D97-AF65-F5344CB8AC3E}">
        <p14:creationId xmlns:p14="http://schemas.microsoft.com/office/powerpoint/2010/main" val="1725803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2">
            <a:extLst xmlns:a="http://schemas.openxmlformats.org/drawingml/2006/main">
              <a:ext uri="{FF2B5EF4-FFF2-40B4-BE49-F238E27FC236}">
                <a16:creationId xmlns:a16="http://schemas.microsoft.com/office/drawing/2014/main" id="{BA8FF031-AEF5-4EB7-A01B-9A756F67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E1C6D9E5-5FD6-4F63-8995-6C76030F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課程導入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3F4F0474-4854-4885-A157-55F4CA01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今天要練的，不只是語法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22B3559-DDC0-4802-A8AF-4C88BAB6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C17B6C8-5827-441D-9968-CD69C610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6286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7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讓真實世界的光線，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7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7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變成看得見的數字，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7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7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再變成馬達的動作。</a:t>
            </a:r>
          </a:p>
        </p:txBody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106FFB9E-F6B5-4E7E-B2B6-AF36E3F4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4000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0B6A73"/>
            </a:solidFill>
            <a:prstDash val="solid"/>
          </a:ln>
        </p:spPr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A5BAE853-575A-493F-9D40-168AC8FC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83C7C870-1866-4163-9AF7-5149FDBE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第一個能力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17366264-4F87-4103-A7DE-F22D6CAB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看懂 Arduino 如何感知、計算、控制。</a:t>
            </a:r>
          </a:p>
        </p:txBody>
      </p:sp>
      <p:sp>
        <p:nvSpPr>
          <p:cNvPr id="10" name="shape-10">
            <a:extLst xmlns:a="http://schemas.openxmlformats.org/drawingml/2006/main">
              <a:ext uri="{FF2B5EF4-FFF2-40B4-BE49-F238E27FC236}">
                <a16:creationId xmlns:a16="http://schemas.microsoft.com/office/drawing/2014/main" id="{3513EF3E-EF12-471F-AE8B-6C433435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4000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8E5900"/>
            </a:solidFill>
            <a:prstDash val="solid"/>
          </a:ln>
        </p:spPr>
      </p:sp>
      <p:sp>
        <p:nvSpPr>
          <p:cNvPr id="11" name="shape-11">
            <a:extLst xmlns:a="http://schemas.openxmlformats.org/drawingml/2006/main">
              <a:ext uri="{FF2B5EF4-FFF2-40B4-BE49-F238E27FC236}">
                <a16:creationId xmlns:a16="http://schemas.microsoft.com/office/drawing/2014/main" id="{DDE7F39D-8680-49E7-BD8D-5EA22A28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5900"/>
          </a:solidFill>
          <a:ln xmlns:a="http://schemas.openxmlformats.org/drawingml/2006/main" w="0">
            <a:solidFill>
              <a:srgbClr val="8E5900"/>
            </a:solidFill>
            <a:prstDash val="solid"/>
          </a:ln>
        </p:spPr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093CA835-659B-4C76-A847-22F2EDC3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0525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第二個能力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C48ED463-A211-4A45-8180-99F48AA0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3581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把需求說清楚，和 AI 一起產生、測試與修正程式。</a:t>
            </a:r>
          </a:p>
        </p:txBody>
      </p:sp>
    </p:spTree>
    <p:extLst>
      <p:ext uri="{BB962C8B-B14F-4D97-AF65-F5344CB8AC3E}">
        <p14:creationId xmlns:p14="http://schemas.microsoft.com/office/powerpoint/2010/main" val="2057071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ccent-3">
            <a:extLst xmlns:a="http://schemas.openxmlformats.org/drawingml/2006/main">
              <a:ext uri="{FF2B5EF4-FFF2-40B4-BE49-F238E27FC236}">
                <a16:creationId xmlns:a16="http://schemas.microsoft.com/office/drawing/2014/main" id="{A5BA7F9D-535E-45ED-8D47-4CFB5242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037EBFBB-322D-4E1B-9EFD-51E8AFBD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課程地圖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C772B08F-39DD-441B-A7CF-D85D60D4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我們會沿著同一條路前進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AF0A2E1-BCA4-4299-BCD5-133CF62C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37CD18D9-6B13-49B2-99F6-AA3175FE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B8F9EF7-AEF1-472E-8D19-31A10B4F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6608590-FB68-416D-A097-0E702B29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62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認識程式的節奏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12B67A4-332C-44BF-948E-361CE9C1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setup、loop、delay、變數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C230366A-8A02-479C-93B3-7724D895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5AD36B8C-BDD4-44A6-A68A-5A22A14A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CE1491CF-FF52-4A08-A069-D3CC63A4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把環境變成資料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71E8A7CE-06E6-432F-B31A-A270B73F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analogRead、Serial Monitor</a:t>
            </a:r>
          </a:p>
        </p:txBody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388CEF53-8773-4E78-83E1-8034412F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6AC1FD63-31AB-4D53-B7E2-367B6DA4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6FC15F58-9D5D-45C6-948D-3897516F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把資料變成動作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E65558CE-7E9A-4EC9-A241-86870F31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map、Servo、Input → Process → Output</a:t>
            </a:r>
          </a:p>
        </p:txBody>
      </p:sp>
      <p:sp>
        <p:nvSpPr>
          <p:cNvPr id="17" name="shape-17">
            <a:extLst xmlns:a="http://schemas.openxmlformats.org/drawingml/2006/main">
              <a:ext uri="{FF2B5EF4-FFF2-40B4-BE49-F238E27FC236}">
                <a16:creationId xmlns:a16="http://schemas.microsoft.com/office/drawing/2014/main" id="{23BB324D-21CB-4371-BEF8-5AA7BF6A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6EBE7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307E376B-1865-4BB5-B9C5-BA990A5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77371B96-3AD9-4706-89AA-25C9DD7B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把想法變成可測試需求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FBFAA0ED-C9EA-42CF-A604-E318A368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五問法、Prompt Coach、外部 AI、Debug</a:t>
            </a:r>
          </a:p>
        </p:txBody>
      </p:sp>
    </p:spTree>
    <p:extLst>
      <p:ext uri="{BB962C8B-B14F-4D97-AF65-F5344CB8AC3E}">
        <p14:creationId xmlns:p14="http://schemas.microsoft.com/office/powerpoint/2010/main" val="7407775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4">
            <a:extLst xmlns:a="http://schemas.openxmlformats.org/drawingml/2006/main">
              <a:ext uri="{FF2B5EF4-FFF2-40B4-BE49-F238E27FC236}">
                <a16:creationId xmlns:a16="http://schemas.microsoft.com/office/drawing/2014/main" id="{3F5906B4-FB0A-45A6-9940-3F90DD78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0B2BBD20-7C9E-43AB-A203-479F731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課程導入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3D71F7C-7BEB-4412-BAEF-8B0F381B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桌上的每一樣東西都有明確角色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8A4C3589-391D-44C2-9982-BF73F83C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B26CCF0-D226-4784-A22F-BAAFAB50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UNO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77A812E-6FAF-4767-BB1C-F890D5D4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955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執行程式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6493257-DCF3-4F2E-970E-B5BD5353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333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透過 USB 接收程式，讀取腳位並控制輸出。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95FD347-D83B-4FAA-907A-6BDFB2A1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A0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C4A62859-F074-46FF-837B-A7B6625C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955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讀取光線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810337B-71C7-4B8B-B29E-9ABAB8C1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81375"/>
            <a:ext cx="333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光敏電阻與固定電阻形成分壓，讓 Arduino 讀到電壓變化。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1B0E984C-A4DD-4DAC-B1D5-D8048C6F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D9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D29062A1-0972-4281-9674-B8ADA07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955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控制 Servo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728E94AB-6E63-4825-9F84-6A49159E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81375"/>
            <a:ext cx="333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訊號腳位送出控制資訊；5V 與 GND 必須接對。</a:t>
            </a:r>
          </a:p>
        </p:txBody>
      </p:sp>
      <p:sp>
        <p:nvSpPr>
          <p:cNvPr id="14" name="shape-14">
            <a:extLst xmlns:a="http://schemas.openxmlformats.org/drawingml/2006/main">
              <a:ext uri="{FF2B5EF4-FFF2-40B4-BE49-F238E27FC236}">
                <a16:creationId xmlns:a16="http://schemas.microsoft.com/office/drawing/2014/main" id="{79EFE7EF-6069-47DC-9609-F4664563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6AE2D"/>
            </a:solidFill>
            <a:prstDash val="solid"/>
          </a:ln>
        </p:spPr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E75816A3-172F-4459-9728-505F471A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安全邊界｜不確定接線時先停止；Servo 卡住、過熱或 USB 不穩時，請立即請老師協助。</a:t>
            </a:r>
          </a:p>
        </p:txBody>
      </p:sp>
    </p:spTree>
    <p:extLst>
      <p:ext uri="{BB962C8B-B14F-4D97-AF65-F5344CB8AC3E}">
        <p14:creationId xmlns:p14="http://schemas.microsoft.com/office/powerpoint/2010/main" val="1673080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3E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048DA1C0-30EA-48DF-B3A7-7E5E46A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CHAPTER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3125454-6ED2-4BD3-B23B-A14C05F9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Arduino 基礎程式設計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6D7DC45-5A60-4321-955A-51865DA2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D8EFE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D8EFEB"/>
                </a:solidFill>
                <a:latin typeface="Noto Sans CJK TC"/>
                <a:ea typeface="Noto Sans CJK TC"/>
                <a:cs typeface="Noto Sans CJK TC"/>
              </a:rPr>
              <a:t>先讀懂程式如何控制硬體，再把每一段語法放回 Input → Process → Output。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935A887-68CE-4868-91F7-D98C674A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CE5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BCE5DC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5864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6">
            <a:extLst xmlns:a="http://schemas.openxmlformats.org/drawingml/2006/main">
              <a:ext uri="{FF2B5EF4-FFF2-40B4-BE49-F238E27FC236}">
                <a16:creationId xmlns:a16="http://schemas.microsoft.com/office/drawing/2014/main" id="{9902DCA9-9026-4B11-9F24-2AFF9F3E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2DA1CCD1-D5E0-4BA7-A977-13F023B3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01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A0CE80E2-420C-454F-8ECA-E8091A41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所有控制系統都可以先拆成三段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E1D13394-342C-4C2C-BA0F-5B4495CE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6EA84CEF-C61F-4179-8009-227C0C8A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34544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59D394C-D907-4414-931C-199CC2AF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INPUT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E572E97-4362-49F1-9194-2B1A328A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311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光敏電阻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讀取環境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6C459968-3CAF-4C39-A893-1406D5F9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2781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231AA218-278C-4D75-89D1-9A9A33D1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333625"/>
            <a:ext cx="34544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6AE2D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E30A132B-BFE5-4B58-945E-7C9D002D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562225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PROCESS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A8A6E7C7-4AB8-4C68-858D-4BF5147E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3076575"/>
            <a:ext cx="311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程式判斷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或轉換資料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553271E3-D7F6-4C9F-A02F-B160C6DA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2781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8B4309FA-D8D6-4B4E-8132-B158B60E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550" y="2333625"/>
            <a:ext cx="34544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F8ED"/>
          </a:solidFill>
          <a:ln xmlns:a="http://schemas.openxmlformats.org/drawingml/2006/main" w="9525">
            <a:solidFill>
              <a:srgbClr val="238755"/>
            </a:solidFill>
            <a:prstDash val="solid"/>
          </a:ln>
        </p:spPr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490AC725-07B5-4A95-9AC2-4B194ED3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562225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OUTPUT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69BE6150-E014-4293-B18E-7C3A64A1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076575"/>
            <a:ext cx="311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LED 或 Servo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做出動作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FCA7BD5A-3E6F-4108-B2B0-3288DF25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先問：資料從哪裡來？中間做了什麼？最後哪個東西動了？</a:t>
            </a:r>
          </a:p>
        </p:txBody>
      </p:sp>
    </p:spTree>
    <p:extLst>
      <p:ext uri="{BB962C8B-B14F-4D97-AF65-F5344CB8AC3E}">
        <p14:creationId xmlns:p14="http://schemas.microsoft.com/office/powerpoint/2010/main" val="421542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accent-7">
            <a:extLst xmlns:a="http://schemas.openxmlformats.org/drawingml/2006/main">
              <a:ext uri="{FF2B5EF4-FFF2-40B4-BE49-F238E27FC236}">
                <a16:creationId xmlns:a16="http://schemas.microsoft.com/office/drawing/2014/main" id="{4F30D35E-B6BA-4030-BCEC-824532FA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0A154F95-8D35-4354-A09D-F9122649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01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0648B997-2262-4716-9ADE-4643F81F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程式要先經過檢查，才會真的跑到 UNO 上</a:t>
            </a:r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F28641F1-33FD-4F95-B4DA-DACEE611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7589492F-4E91-4040-BE53-DC5B108F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462213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388A393-2D95-4B8E-9C37-0C9B0A4C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寫程式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3F62F95-94D2-4EB3-AC2B-FBACD0E0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2119313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Arduino IDE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0BFE1218-1DF9-482E-813B-0DDAD4FC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2619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6F5E018C-0208-4E04-8D08-E87A6D57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171700"/>
            <a:ext cx="2462213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854D036D-7B89-4C56-AC9D-634B7857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40030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Compile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ED7219D4-E327-4A9C-83B7-1A9E60C6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914650"/>
            <a:ext cx="2119313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檢查並翻譯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862C7315-2AF0-4C13-B778-F0DD1F02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19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8615F5B4-308F-4761-9B0A-9F68A51B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462213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6AE2D"/>
            </a:solidFill>
            <a:prstDash val="solid"/>
          </a:ln>
        </p:spPr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72B9387E-7EE9-44CF-B528-A3F2C288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0030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Upload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7899EBE4-5188-46B7-8DA4-31B69B7C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14650"/>
            <a:ext cx="2119313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傳到 UNO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A222AD7D-657E-4BA0-A870-9D0B8A74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619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7" name="shape-17">
            <a:extLst xmlns:a="http://schemas.openxmlformats.org/drawingml/2006/main">
              <a:ext uri="{FF2B5EF4-FFF2-40B4-BE49-F238E27FC236}">
                <a16:creationId xmlns:a16="http://schemas.microsoft.com/office/drawing/2014/main" id="{6545FDA1-9B2F-4E87-9DE4-A79764CC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2171700"/>
            <a:ext cx="2462213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9F8ED"/>
          </a:solidFill>
          <a:ln xmlns:a="http://schemas.openxmlformats.org/drawingml/2006/main" w="9525">
            <a:solidFill>
              <a:srgbClr val="238755"/>
            </a:solidFill>
            <a:prstDash val="solid"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1B033C9B-2205-4C7E-8B13-3FFF3B5A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40030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觀察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F351DACC-65FD-4A38-8AC1-511919D0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914650"/>
            <a:ext cx="2119313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看 LED、數字或馬達</a:t>
            </a:r>
          </a:p>
        </p:txBody>
      </p:sp>
      <p:sp>
        <p:nvSpPr>
          <p:cNvPr id="20" name="shape-20">
            <a:extLst xmlns:a="http://schemas.openxmlformats.org/drawingml/2006/main">
              <a:ext uri="{FF2B5EF4-FFF2-40B4-BE49-F238E27FC236}">
                <a16:creationId xmlns:a16="http://schemas.microsoft.com/office/drawing/2014/main" id="{824047D5-A620-41D7-9DA3-9214E1AA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3EDFB"/>
          </a:solidFill>
          <a:ln xmlns:a="http://schemas.openxmlformats.org/drawingml/2006/main" w="9525">
            <a:solidFill>
              <a:srgbClr val="7B56B4"/>
            </a:solidFill>
            <a:prstDash val="solid"/>
          </a:ln>
        </p:spPr>
      </p:sp>
      <p:sp>
        <p:nvSpPr>
          <p:cNvPr id="21" name="shape-21">
            <a:extLst xmlns:a="http://schemas.openxmlformats.org/drawingml/2006/main">
              <a:ext uri="{FF2B5EF4-FFF2-40B4-BE49-F238E27FC236}">
                <a16:creationId xmlns:a16="http://schemas.microsoft.com/office/drawing/2014/main" id="{7337207E-C3AB-4766-845A-04A1300F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56B4"/>
          </a:solidFill>
          <a:ln xmlns:a="http://schemas.openxmlformats.org/drawingml/2006/main" w="0">
            <a:solidFill>
              <a:srgbClr val="7B56B4"/>
            </a:solidFill>
            <a:prstDash val="solid"/>
          </a:ln>
        </p:spPr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7E74D260-1762-4710-95F9-F4C57494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67250"/>
            <a:ext cx="872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7B56B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7B56B4"/>
                </a:solidFill>
                <a:latin typeface="Noto Sans CJK TC"/>
                <a:ea typeface="Noto Sans CJK TC"/>
                <a:cs typeface="Noto Sans CJK TC"/>
              </a:rPr>
              <a:t>出錯時先分類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79A93C5B-7D40-4D70-9FBE-4557EDC2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2445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4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Compile Error 是程式還沒成功編譯；Upload 問題可能是板子、Port 或連線；硬體無反應則要再查接線與程式。</a:t>
            </a:r>
          </a:p>
        </p:txBody>
      </p:sp>
    </p:spTree>
    <p:extLst>
      <p:ext uri="{BB962C8B-B14F-4D97-AF65-F5344CB8AC3E}">
        <p14:creationId xmlns:p14="http://schemas.microsoft.com/office/powerpoint/2010/main" val="14119407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ccent-8">
            <a:extLst xmlns:a="http://schemas.openxmlformats.org/drawingml/2006/main">
              <a:ext uri="{FF2B5EF4-FFF2-40B4-BE49-F238E27FC236}">
                <a16:creationId xmlns:a16="http://schemas.microsoft.com/office/drawing/2014/main" id="{AD829D17-2D43-421E-B1DD-8CC4594A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678F633B-3C23-4BC9-B23B-5E7E4BD8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01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6707AC50-2075-4C7F-98D9-A1ADA4AD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setup() 準備一次，loop() 持續重複</a:t>
            </a:r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D8D293A5-573F-4139-BB04-DE378CFA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5" name="code-5">
            <a:extLst xmlns:a="http://schemas.openxmlformats.org/drawingml/2006/main">
              <a:ext uri="{FF2B5EF4-FFF2-40B4-BE49-F238E27FC236}">
                <a16:creationId xmlns:a16="http://schemas.microsoft.com/office/drawing/2014/main" id="{FEB0D64B-4F13-452F-956A-A1C2BC67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81625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12D34"/>
          </a:solidFill>
          <a:ln xmlns:a="http://schemas.openxmlformats.org/drawingml/2006/main" w="9525">
            <a:solidFill>
              <a:srgbClr val="294B50"/>
            </a:solidFill>
            <a:prstDash val="solid"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B53EDC87-EBB8-437C-9106-9F448F02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816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42A"/>
          </a:solidFill>
          <a:ln xmlns:a="http://schemas.openxmlformats.org/drawingml/2006/main" w="0">
            <a:solidFill>
              <a:srgbClr val="0B242A"/>
            </a:solidFill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0FB9D59C-2FA8-42B3-BEDD-3BF9C473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507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rPr>
              <a:t>Arduino 程式的基本外框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36A777E-401B-477E-A170-CA204F2A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5000625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8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void setup()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8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// 開機後執行一次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8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8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void loop()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8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// 不斷重複執行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8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}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BD87CDA4-B4AA-46AF-BE92-E5186AB9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476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E4A6F965-6D79-4A92-91E6-E3ACD260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05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開機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46CA1057-DAF2-4C52-B101-C909DFD0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接上電源或重新啟動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5ABA3FFE-1DE6-4317-8797-C5A7654B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908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FBE72A7B-7E25-4552-A938-9646D615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476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0B6A73"/>
            </a:solidFill>
            <a:prstDash val="solid"/>
          </a:ln>
        </p:spPr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F1DFF721-01B9-4EFC-8FA1-C74DA97D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48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setup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57CF1292-DFA0-4ABD-9485-C70BAEAC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8612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只執行一次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03C7F5E3-8DC4-4188-8F8B-50BCB94F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17" name="shape-17">
            <a:extLst xmlns:a="http://schemas.openxmlformats.org/drawingml/2006/main">
              <a:ext uri="{FF2B5EF4-FFF2-40B4-BE49-F238E27FC236}">
                <a16:creationId xmlns:a16="http://schemas.microsoft.com/office/drawing/2014/main" id="{EA9CF98F-F96D-444B-8571-11D3FF4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38625"/>
            <a:ext cx="4476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6AE2D"/>
            </a:solidFill>
            <a:prstDash val="solid"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7FAC8E8F-A8ED-48F9-BC7B-DFF8D8AE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91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loop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239EAB83-BEC1-4CD3-95F6-4D01DB75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2912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持續重複執行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EDFF1AC0-0BA2-4346-91EC-C1F48E6F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768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setup 像上課前準備；loop 像整堂課一直做的工作。</a:t>
            </a:r>
          </a:p>
        </p:txBody>
      </p:sp>
    </p:spTree>
    <p:extLst>
      <p:ext uri="{BB962C8B-B14F-4D97-AF65-F5344CB8AC3E}">
        <p14:creationId xmlns:p14="http://schemas.microsoft.com/office/powerpoint/2010/main" val="567624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9">
            <a:extLst xmlns:a="http://schemas.openxmlformats.org/drawingml/2006/main">
              <a:ext uri="{FF2B5EF4-FFF2-40B4-BE49-F238E27FC236}">
                <a16:creationId xmlns:a16="http://schemas.microsoft.com/office/drawing/2014/main" id="{76469E1B-8541-4F87-92A7-A252B53F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BD58BE15-B0BE-458D-9E2B-C0660986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01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A8978644-79A3-4378-B8CD-B2C370F3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delay() 的數字越小，LED 切換越快</a:t>
            </a:r>
          </a:p>
        </p:txBody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4A034D60-4D76-4CA3-A035-44787C9E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5" name="code-5">
            <a:extLst xmlns:a="http://schemas.openxmlformats.org/drawingml/2006/main">
              <a:ext uri="{FF2B5EF4-FFF2-40B4-BE49-F238E27FC236}">
                <a16:creationId xmlns:a16="http://schemas.microsoft.com/office/drawing/2014/main" id="{B584BE8E-6ED3-4058-B4AD-32D41357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6675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12D34"/>
          </a:solidFill>
          <a:ln xmlns:a="http://schemas.openxmlformats.org/drawingml/2006/main" w="9525">
            <a:solidFill>
              <a:srgbClr val="294B50"/>
            </a:solidFill>
            <a:prstDash val="solid"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FE660CD2-A2A6-4940-9853-A2CDABE0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66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42A"/>
          </a:solidFill>
          <a:ln xmlns:a="http://schemas.openxmlformats.org/drawingml/2006/main" w="0">
            <a:solidFill>
              <a:srgbClr val="0B242A"/>
            </a:solidFill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C46EF96-7DC3-4871-819C-CA04BB55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0225"/>
            <a:ext cx="636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rPr>
              <a:t>板載 LED 閃爍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699232C-7D67-41E8-AB90-F7CB88BD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62865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void setup()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pinMode(LED_BUILTIN, OUTPUT);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void loop()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digitalWrite(LED_BUILTIN, HIGH);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delay(1000);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digitalWrite(LED_BUILTIN, LOW);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delay(1000);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}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0A01DFF9-019A-467A-8441-39E3B109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8100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8E5900"/>
            </a:solidFill>
            <a:prstDash val="solid"/>
          </a:ln>
        </p:spPr>
      </p:sp>
      <p:sp>
        <p:nvSpPr>
          <p:cNvPr id="10" name="shape-10">
            <a:extLst xmlns:a="http://schemas.openxmlformats.org/drawingml/2006/main">
              <a:ext uri="{FF2B5EF4-FFF2-40B4-BE49-F238E27FC236}">
                <a16:creationId xmlns:a16="http://schemas.microsoft.com/office/drawing/2014/main" id="{C4589CDE-7E54-4DCF-B8F5-29B0EB74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76200" cy="2333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5900"/>
          </a:solidFill>
          <a:ln xmlns:a="http://schemas.openxmlformats.org/drawingml/2006/main" w="0">
            <a:solidFill>
              <a:srgbClr val="8E5900"/>
            </a:solidFill>
            <a:prstDash val="solid"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6864BE35-9909-4695-A841-B1236C4E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8125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預測變化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46D9A83F-2DC6-428F-A131-895F43D9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33909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1000 ms = 1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把兩個 1000 都改成 100，LED 會更快切換亮與暗。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1332AC88-5E95-486D-B3A2-7CFA4FA7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577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程式由上到下執行；函式括號裡的數字是參數。</a:t>
            </a:r>
          </a:p>
        </p:txBody>
      </p:sp>
    </p:spTree>
    <p:extLst>
      <p:ext uri="{BB962C8B-B14F-4D97-AF65-F5344CB8AC3E}">
        <p14:creationId xmlns:p14="http://schemas.microsoft.com/office/powerpoint/2010/main" val="912757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10">
            <a:extLst xmlns:a="http://schemas.openxmlformats.org/drawingml/2006/main">
              <a:ext uri="{FF2B5EF4-FFF2-40B4-BE49-F238E27FC236}">
                <a16:creationId xmlns:a16="http://schemas.microsoft.com/office/drawing/2014/main" id="{C65ED7F2-F4BC-4F31-A151-A4FE51DA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E094054F-1546-4AA9-B405-74B6D529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01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804B6635-8CB8-4BBB-863A-95AACA17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變數替資料取名字，也讓修改更集中</a:t>
            </a:r>
          </a:p>
        </p:txBody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3BFF76BA-4464-4CF4-A5C7-85E8FDA2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0A797A4-9852-466A-BD81-11AB42B6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int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9463FEF-E5A0-4BDB-B4FC-9EC4D8A2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3837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35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35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waitTime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4D4A505-F3DC-4EDA-A4AC-5804A957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383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3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3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500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9AB8372-8379-40B1-8426-EBB83B77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資料型態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E212341E-056C-4D53-A244-C9ECB732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908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名字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1E9B2CD9-446D-4938-BF90-FC388DF6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90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內容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A45444C3-36BA-48A7-9644-4761519D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9800"/>
            <a:ext cx="609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200" b="1">
                <a:solidFill>
                  <a:srgbClr val="C9DD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200" b="1">
                <a:solidFill>
                  <a:srgbClr val="C9DDDA"/>
                </a:solidFill>
                <a:latin typeface="Noto Sans CJK TC"/>
                <a:ea typeface="Noto Sans CJK TC"/>
                <a:cs typeface="Noto Sans CJK TC"/>
              </a:rPr>
              <a:t>=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C84CA609-B493-4819-BDEA-2EEF65DE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609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200" b="1">
                <a:solidFill>
                  <a:srgbClr val="C9DD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200" b="1">
                <a:solidFill>
                  <a:srgbClr val="C9DDDA"/>
                </a:solidFill>
                <a:latin typeface="Noto Sans CJK TC"/>
                <a:ea typeface="Noto Sans CJK TC"/>
                <a:cs typeface="Noto Sans CJK TC"/>
              </a:rPr>
              <a:t>=</a:t>
            </a:r>
          </a:p>
        </p:txBody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09DFE32B-25B3-4434-8BF3-6E53A0D3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33875"/>
            <a:ext cx="8191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0B6A73"/>
            </a:solidFill>
            <a:prstDash val="solid"/>
          </a:ln>
        </p:spPr>
      </p:sp>
      <p:sp>
        <p:nvSpPr>
          <p:cNvPr id="14" name="shape-14">
            <a:extLst xmlns:a="http://schemas.openxmlformats.org/drawingml/2006/main">
              <a:ext uri="{FF2B5EF4-FFF2-40B4-BE49-F238E27FC236}">
                <a16:creationId xmlns:a16="http://schemas.microsoft.com/office/drawing/2014/main" id="{69E9D317-E3B1-40BA-ABB8-3A1DB994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33875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2136FECE-F6FD-41E6-B0AC-35198288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24375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為什麼有用？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64468812-F511-4080-8102-1EB5FB8F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81575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兩個 delay 都使用 waitTime 時，只要改一個地方，就能一起調整亮與暗的等待時間。</a:t>
            </a:r>
          </a:p>
        </p:txBody>
      </p:sp>
    </p:spTree>
    <p:extLst>
      <p:ext uri="{BB962C8B-B14F-4D97-AF65-F5344CB8AC3E}">
        <p14:creationId xmlns:p14="http://schemas.microsoft.com/office/powerpoint/2010/main" val="3473728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accent-11">
            <a:extLst xmlns:a="http://schemas.openxmlformats.org/drawingml/2006/main">
              <a:ext uri="{FF2B5EF4-FFF2-40B4-BE49-F238E27FC236}">
                <a16:creationId xmlns:a16="http://schemas.microsoft.com/office/drawing/2014/main" id="{79AD74E5-E45B-4550-A7BD-0F47FDE0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487C4C2C-238C-4B1B-A9CE-8C52E7BA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01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3D426834-CCD0-4BC3-A19E-057F5E44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analogRead() 把光線變成 0–1023 的數字</a:t>
            </a:r>
          </a:p>
        </p:txBody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4E26E20C-CE19-441C-A359-2DAC499C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93F99181-552B-4CED-9DD8-CCBA8CC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462213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82045AC-C2C2-47ED-B116-7649137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環境光線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587040D-C0ED-4AAA-95FB-BD6A8664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21193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真實世界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70B9494-D729-46D7-A0F5-2F179E1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25431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4BAF9C0B-DB3A-4651-9316-2C5B78A7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95500"/>
            <a:ext cx="2462213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0DC267CA-399E-4334-8C10-202B5B5A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32410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光敏電阻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B3ED3308-CF4B-4437-AD39-90321375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838450"/>
            <a:ext cx="21193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電阻隨光線變化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11188D50-325F-4014-9383-86B7E25C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431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DA0AD1E6-958A-4196-97A0-252D4F98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95500"/>
            <a:ext cx="2462213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6AE2D"/>
            </a:solidFill>
            <a:prstDash val="solid"/>
          </a:ln>
        </p:spPr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2ED6D90A-D662-4DD1-A37B-2A417BBB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2410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A0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CA182034-7B07-4EF5-BF0C-C69C10E7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38450"/>
            <a:ext cx="21193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讀取分壓中點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E1DF1BB5-9DCF-4AFF-A62E-8D214CCC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431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7" name="shape-17">
            <a:extLst xmlns:a="http://schemas.openxmlformats.org/drawingml/2006/main">
              <a:ext uri="{FF2B5EF4-FFF2-40B4-BE49-F238E27FC236}">
                <a16:creationId xmlns:a16="http://schemas.microsoft.com/office/drawing/2014/main" id="{8315106D-AE09-41C2-BA6C-503A69A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2095500"/>
            <a:ext cx="2462213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8ED"/>
          </a:solidFill>
          <a:ln xmlns:a="http://schemas.openxmlformats.org/drawingml/2006/main" w="9525">
            <a:solidFill>
              <a:srgbClr val="238755"/>
            </a:solidFill>
            <a:prstDash val="solid"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63B19ADB-B149-42F7-B0AF-4D2F67C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32410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lightValue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82621222-1DF6-4F35-B36D-D0815563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838450"/>
            <a:ext cx="21193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0–1023</a:t>
            </a:r>
          </a:p>
        </p:txBody>
      </p:sp>
      <p:sp>
        <p:nvSpPr>
          <p:cNvPr id="20" name="code-20">
            <a:extLst xmlns:a="http://schemas.openxmlformats.org/drawingml/2006/main">
              <a:ext uri="{FF2B5EF4-FFF2-40B4-BE49-F238E27FC236}">
                <a16:creationId xmlns:a16="http://schemas.microsoft.com/office/drawing/2014/main" id="{68C09E64-AA2E-478C-B3F8-51E2FDB1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29125"/>
            <a:ext cx="704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2D34"/>
          </a:solidFill>
          <a:ln xmlns:a="http://schemas.openxmlformats.org/drawingml/2006/main" w="9525">
            <a:solidFill>
              <a:srgbClr val="294B50"/>
            </a:solidFill>
            <a:prstDash val="solid"/>
          </a:ln>
        </p:spPr>
      </p:sp>
      <p:sp>
        <p:nvSpPr>
          <p:cNvPr id="21" name="shape-21">
            <a:extLst xmlns:a="http://schemas.openxmlformats.org/drawingml/2006/main">
              <a:ext uri="{FF2B5EF4-FFF2-40B4-BE49-F238E27FC236}">
                <a16:creationId xmlns:a16="http://schemas.microsoft.com/office/drawing/2014/main" id="{8F081E8C-0CD0-467A-B0AF-36E11EB6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29125"/>
            <a:ext cx="7048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42A"/>
          </a:solidFill>
          <a:ln xmlns:a="http://schemas.openxmlformats.org/drawingml/2006/main" w="0">
            <a:solidFill>
              <a:srgbClr val="0B242A"/>
            </a:solidFill>
            <a:prstDash val="solid"/>
          </a:ln>
        </p:spPr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B370FEED-6185-4919-B0A0-84797E29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14850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rPr>
              <a:t>核心語法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8A4C4EE0-C450-481E-B40F-E4E6A805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815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9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int lightValue = analogRead(A0);</a:t>
            </a:r>
          </a:p>
        </p:txBody>
      </p:sp>
      <p:sp>
        <p:nvSpPr>
          <p:cNvPr id="24" name="shape-24">
            <a:extLst xmlns:a="http://schemas.openxmlformats.org/drawingml/2006/main">
              <a:ext uri="{FF2B5EF4-FFF2-40B4-BE49-F238E27FC236}">
                <a16:creationId xmlns:a16="http://schemas.microsoft.com/office/drawing/2014/main" id="{9828544D-3D75-4D1D-80A1-2F8961F6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391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6AE2D"/>
            </a:solidFill>
            <a:prstDash val="solid"/>
          </a:ln>
        </p:spPr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DED572C8-93EA-49CF-ACD2-22336C18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97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接線提醒｜裸光敏電阻不能只接一條線讀值；必須依教師接線圖與固定電阻形成分壓。</a:t>
            </a:r>
          </a:p>
        </p:txBody>
      </p:sp>
    </p:spTree>
    <p:extLst>
      <p:ext uri="{BB962C8B-B14F-4D97-AF65-F5344CB8AC3E}">
        <p14:creationId xmlns:p14="http://schemas.microsoft.com/office/powerpoint/2010/main" val="21137174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12">
            <a:extLst xmlns:a="http://schemas.openxmlformats.org/drawingml/2006/main">
              <a:ext uri="{FF2B5EF4-FFF2-40B4-BE49-F238E27FC236}">
                <a16:creationId xmlns:a16="http://schemas.microsoft.com/office/drawing/2014/main" id="{4CAB2BF4-5B32-4318-832E-F02E5D2C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807BB1A7-64D9-4473-A032-ACC1BB7E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01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FBC597FF-1D35-4FD4-B355-C2866DE4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Serial Monitor 讓我們看見 Arduino 讀到什麼</a:t>
            </a:r>
          </a:p>
        </p:txBody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9ED7002-02ED-42B7-816D-A6E64D18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5" name="code-5">
            <a:extLst xmlns:a="http://schemas.openxmlformats.org/drawingml/2006/main">
              <a:ext uri="{FF2B5EF4-FFF2-40B4-BE49-F238E27FC236}">
                <a16:creationId xmlns:a16="http://schemas.microsoft.com/office/drawing/2014/main" id="{26B7CB34-4974-48AA-B6FC-C1300B79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477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2D34"/>
          </a:solidFill>
          <a:ln xmlns:a="http://schemas.openxmlformats.org/drawingml/2006/main" w="9525">
            <a:solidFill>
              <a:srgbClr val="294B50"/>
            </a:solidFill>
            <a:prstDash val="solid"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3A4D9AC6-CD86-4ED4-A7D6-D7320621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477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42A"/>
          </a:solidFill>
          <a:ln xmlns:a="http://schemas.openxmlformats.org/drawingml/2006/main" w="0">
            <a:solidFill>
              <a:srgbClr val="0B242A"/>
            </a:solidFill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EB134CC-181D-4787-B75A-13EAB310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0225"/>
            <a:ext cx="617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rPr>
              <a:t>讀取並印出感測值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BE3ED36D-316D-4682-B1CA-E35AAF47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60960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void setup()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Serial.begin(9600);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void loop()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int lightValue = analogRead(A0);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Serial.println(lightValue);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delay(100);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}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079EC95B-ACD1-4C6A-8971-1A20FC47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3714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B0327068-13EE-4155-8C5D-7C93952B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SERIAL MONITOR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A59F96BA-49BD-4C1C-A2EA-DBF78E4C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225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rPr>
              <a:t>825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225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rPr>
              <a:t>790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225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rPr>
              <a:t>620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225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rPr>
              <a:t>430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225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rPr>
              <a:t>210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225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rPr>
              <a:t>95</a:t>
            </a:r>
          </a:p>
        </p:txBody>
      </p:sp>
      <p:sp>
        <p:nvSpPr>
          <p:cNvPr id="12" name="shape-12">
            <a:extLst xmlns:a="http://schemas.openxmlformats.org/drawingml/2006/main">
              <a:ext uri="{FF2B5EF4-FFF2-40B4-BE49-F238E27FC236}">
                <a16:creationId xmlns:a16="http://schemas.microsoft.com/office/drawing/2014/main" id="{93D6815F-8EA9-4386-9A4B-2CE4FBEB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48250"/>
            <a:ext cx="2571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0">
            <a:solidFill>
              <a:srgbClr val="FFF0C9"/>
            </a:solidFill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DFA56255-BDCD-45DF-9898-4714EB6F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1149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baud rate：9600</a:t>
            </a:r>
          </a:p>
        </p:txBody>
      </p:sp>
    </p:spTree>
    <p:extLst>
      <p:ext uri="{BB962C8B-B14F-4D97-AF65-F5344CB8AC3E}">
        <p14:creationId xmlns:p14="http://schemas.microsoft.com/office/powerpoint/2010/main" val="5647100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-13">
            <a:extLst xmlns:a="http://schemas.openxmlformats.org/drawingml/2006/main">
              <a:ext uri="{FF2B5EF4-FFF2-40B4-BE49-F238E27FC236}">
                <a16:creationId xmlns:a16="http://schemas.microsoft.com/office/drawing/2014/main" id="{4023D9D7-181B-4A81-A784-6458BE7A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434B268C-164B-4931-B31C-EDD907BC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01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E48E7960-EC6A-462D-B7FD-DFFD4A7B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map() 把感測範圍轉成 Servo 角度</a:t>
            </a:r>
          </a:p>
        </p:txBody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73161CF2-D3FD-45EB-A1F4-31E9860B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4B99C16-F57A-4D4A-8A13-84280EA7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4E91BE9A-E2AB-4151-BD89-90761124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28875"/>
            <a:ext cx="3429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5043C5F-DD2C-4755-9066-A56E5A81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1023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46C36365-1226-4A92-80D8-A0676470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52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lightValue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93B8B2B7-D91D-475C-A120-14AECDF4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861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 map() →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C415358E-DEF3-4985-BED8-FC167819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0°</a:t>
            </a:r>
          </a:p>
        </p:txBody>
      </p:sp>
      <p:sp>
        <p:nvSpPr>
          <p:cNvPr id="11" name="shape-11">
            <a:extLst xmlns:a="http://schemas.openxmlformats.org/drawingml/2006/main">
              <a:ext uri="{FF2B5EF4-FFF2-40B4-BE49-F238E27FC236}">
                <a16:creationId xmlns:a16="http://schemas.microsoft.com/office/drawing/2014/main" id="{A3D3A6E8-E20B-4487-90D5-4BCDE90A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3429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8755"/>
          </a:solidFill>
          <a:ln xmlns:a="http://schemas.openxmlformats.org/drawingml/2006/main" w="0">
            <a:solidFill>
              <a:srgbClr val="238755"/>
            </a:solidFill>
            <a:prstDash val="solid"/>
          </a:ln>
        </p:spPr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EDCB026A-991C-4342-9999-69A16FE2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2860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180°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3E375B78-2A10-47EA-A2DC-46E16276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angle</a:t>
            </a:r>
          </a:p>
        </p:txBody>
      </p:sp>
      <p:sp>
        <p:nvSpPr>
          <p:cNvPr id="14" name="code-14">
            <a:extLst xmlns:a="http://schemas.openxmlformats.org/drawingml/2006/main">
              <a:ext uri="{FF2B5EF4-FFF2-40B4-BE49-F238E27FC236}">
                <a16:creationId xmlns:a16="http://schemas.microsoft.com/office/drawing/2014/main" id="{EEA2AD6D-1329-412B-AD2D-CD8EC681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91000"/>
            <a:ext cx="8001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12D34"/>
          </a:solidFill>
          <a:ln xmlns:a="http://schemas.openxmlformats.org/drawingml/2006/main" w="9525">
            <a:solidFill>
              <a:srgbClr val="294B50"/>
            </a:solidFill>
            <a:prstDash val="solid"/>
          </a:ln>
        </p:spPr>
      </p:sp>
      <p:sp>
        <p:nvSpPr>
          <p:cNvPr id="15" name="shape-15">
            <a:extLst xmlns:a="http://schemas.openxmlformats.org/drawingml/2006/main">
              <a:ext uri="{FF2B5EF4-FFF2-40B4-BE49-F238E27FC236}">
                <a16:creationId xmlns:a16="http://schemas.microsoft.com/office/drawing/2014/main" id="{EAF08371-D88B-42C0-BE0B-E79CEC08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91000"/>
            <a:ext cx="8001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42A"/>
          </a:solidFill>
          <a:ln xmlns:a="http://schemas.openxmlformats.org/drawingml/2006/main" w="0">
            <a:solidFill>
              <a:srgbClr val="0B242A"/>
            </a:solidFill>
            <a:prstDash val="solid"/>
          </a:ln>
        </p:spPr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7B2A55A7-C76C-4D07-A879-E3406A65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76725"/>
            <a:ext cx="769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rPr>
              <a:t>範圍轉換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CFF0A375-8760-4B97-B82E-090F1AA1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762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80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int angle = map(lightValue, 0, 1023, 0, 180);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ADDDA9E3-2407-4AD1-877A-6B74EE98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0545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中間值約 512 會對應到約 90°。</a:t>
            </a:r>
          </a:p>
        </p:txBody>
      </p:sp>
    </p:spTree>
    <p:extLst>
      <p:ext uri="{BB962C8B-B14F-4D97-AF65-F5344CB8AC3E}">
        <p14:creationId xmlns:p14="http://schemas.microsoft.com/office/powerpoint/2010/main" val="7998271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ccent-14">
            <a:extLst xmlns:a="http://schemas.openxmlformats.org/drawingml/2006/main">
              <a:ext uri="{FF2B5EF4-FFF2-40B4-BE49-F238E27FC236}">
                <a16:creationId xmlns:a16="http://schemas.microsoft.com/office/drawing/2014/main" id="{7C665AF6-83B0-4326-8EE2-AF53C580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DBFB7A39-653B-4ABE-A128-9CA93C2D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01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D4C521A1-483E-4E7F-ACF4-D2FAB321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Servo Library 讓角度變成真實動作</a:t>
            </a:r>
          </a:p>
        </p:txBody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35E77D38-999C-49B2-8204-E6F35A63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5" name="code-5">
            <a:extLst xmlns:a="http://schemas.openxmlformats.org/drawingml/2006/main">
              <a:ext uri="{FF2B5EF4-FFF2-40B4-BE49-F238E27FC236}">
                <a16:creationId xmlns:a16="http://schemas.microsoft.com/office/drawing/2014/main" id="{12860313-1A7C-4ACC-B518-47876661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191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2D34"/>
          </a:solidFill>
          <a:ln xmlns:a="http://schemas.openxmlformats.org/drawingml/2006/main" w="9525">
            <a:solidFill>
              <a:srgbClr val="294B50"/>
            </a:solidFill>
            <a:prstDash val="solid"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BD5660B4-32E0-4382-A8B5-FF66E81C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191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42A"/>
          </a:solidFill>
          <a:ln xmlns:a="http://schemas.openxmlformats.org/drawingml/2006/main" w="0">
            <a:solidFill>
              <a:srgbClr val="0B242A"/>
            </a:solidFill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4286A3C1-2759-42D4-8F73-878460B4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0225"/>
            <a:ext cx="588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rPr>
              <a:t>Servo 的三個重點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07A5DF3B-0608-4E6A-AA26-B826D8A8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58102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#include &lt;Servo.h&gt;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Servo motor;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void setup()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motor.attach(9);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motor.write(90);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void loop()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650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}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D20780BC-A6F5-4203-AEEC-44851517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09750"/>
            <a:ext cx="4238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0B6A73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ADB9D0DB-C063-401C-8A8F-3C6DC253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907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FC6918EC-75AC-4A47-9308-19EEC2D0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載入工具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A21ABEE4-15B6-43D4-98E4-73622738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50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rPr>
              <a:t>#include &lt;Servo.h&gt;</a:t>
            </a:r>
          </a:p>
        </p:txBody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C7AB1EF3-8416-4C7E-A285-71B57EAF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38450"/>
            <a:ext cx="4238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0B6A73"/>
            </a:solidFill>
            <a:prstDash val="solid"/>
          </a:ln>
        </p:spPr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EC06018F-BE07-46B4-B0EE-9DD587D2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19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FECA5BFA-F5C4-4DE2-8389-84FBF25A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連到腳位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70572B3A-5A48-4ECC-9D45-C7FF9736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50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rPr>
              <a:t>motor.attach(9)</a:t>
            </a:r>
          </a:p>
        </p:txBody>
      </p:sp>
      <p:sp>
        <p:nvSpPr>
          <p:cNvPr id="17" name="shape-17">
            <a:extLst xmlns:a="http://schemas.openxmlformats.org/drawingml/2006/main">
              <a:ext uri="{FF2B5EF4-FFF2-40B4-BE49-F238E27FC236}">
                <a16:creationId xmlns:a16="http://schemas.microsoft.com/office/drawing/2014/main" id="{9AA5BE70-22EB-4E56-BAA1-3B49BF50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67150"/>
            <a:ext cx="4238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F8ED"/>
          </a:solidFill>
          <a:ln xmlns:a="http://schemas.openxmlformats.org/drawingml/2006/main" w="9525">
            <a:solidFill>
              <a:srgbClr val="238755"/>
            </a:solidFill>
            <a:prstDash val="solid"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7522A7F2-C2F3-4644-92F9-7ACB0084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481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7AA3F40A-3F9A-4B2F-99E8-93AF91CF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移到角度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3617529E-81D0-4EC2-947F-2755E4A9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500" b="0">
                <a:solidFill>
                  <a:srgbClr val="13272A"/>
                </a:solidFill>
                <a:latin typeface="Noto Sans Mono CJK TC"/>
                <a:ea typeface="Noto Sans Mono CJK TC"/>
                <a:cs typeface="Noto Sans Mono CJK TC"/>
              </a:rPr>
              <a:t>motor.write(90)</a:t>
            </a:r>
          </a:p>
        </p:txBody>
      </p:sp>
      <p:sp>
        <p:nvSpPr>
          <p:cNvPr id="21" name="shape-21">
            <a:extLst xmlns:a="http://schemas.openxmlformats.org/drawingml/2006/main">
              <a:ext uri="{FF2B5EF4-FFF2-40B4-BE49-F238E27FC236}">
                <a16:creationId xmlns:a16="http://schemas.microsoft.com/office/drawing/2014/main" id="{3AA3C63A-E51F-4CB3-BA1F-0DC1C416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48250"/>
            <a:ext cx="4238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6AE2D"/>
            </a:solidFill>
            <a:prstDash val="solid"/>
          </a:ln>
        </p:spPr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77251978-D237-4423-AF8D-03CDA450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48275"/>
            <a:ext cx="376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安全操作｜先確認訊號、5V、GND；不要硬轉馬達軸，接近極限卡住時要立即停止。</a:t>
            </a:r>
          </a:p>
        </p:txBody>
      </p:sp>
    </p:spTree>
    <p:extLst>
      <p:ext uri="{BB962C8B-B14F-4D97-AF65-F5344CB8AC3E}">
        <p14:creationId xmlns:p14="http://schemas.microsoft.com/office/powerpoint/2010/main" val="8403910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ccent-15">
            <a:extLst xmlns:a="http://schemas.openxmlformats.org/drawingml/2006/main">
              <a:ext uri="{FF2B5EF4-FFF2-40B4-BE49-F238E27FC236}">
                <a16:creationId xmlns:a16="http://schemas.microsoft.com/office/drawing/2014/main" id="{C63C5570-DBCA-435F-931B-00B94A42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BAF4768F-3EF3-4BA8-887E-0049D5EE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01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09AA594D-ECBD-4631-86BB-398F4DD8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把三段接起來，光線就能控制 Servo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F9356A0D-99B5-4DA6-B0C8-E313D7F2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5" name="code-5">
            <a:extLst xmlns:a="http://schemas.openxmlformats.org/drawingml/2006/main">
              <a:ext uri="{FF2B5EF4-FFF2-40B4-BE49-F238E27FC236}">
                <a16:creationId xmlns:a16="http://schemas.microsoft.com/office/drawing/2014/main" id="{8224248A-7CCE-4870-9925-C23F9DD1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112D34"/>
          </a:solidFill>
          <a:ln xmlns:a="http://schemas.openxmlformats.org/drawingml/2006/main" w="9525">
            <a:solidFill>
              <a:srgbClr val="294B50"/>
            </a:solidFill>
            <a:prstDash val="solid"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27C959F1-2249-4F73-96F3-A6C50EB2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42A"/>
          </a:solidFill>
          <a:ln xmlns:a="http://schemas.openxmlformats.org/drawingml/2006/main" w="0">
            <a:solidFill>
              <a:srgbClr val="0B242A"/>
            </a:solidFill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AA7548D-C2EB-41C0-85E0-F760DFCA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693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rPr>
              <a:t>光控 Servo 的核心 loop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5AA6D4AB-35C8-40F1-A301-13EDC00D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68580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void loop()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int lightValue = analogRead(lightPin);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int angle = map(lightValue, 0, 1023, 0, 180);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motor.write(angle);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Serial.print(lightValue);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Serial.print(" -&gt; ");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Serial.println(angle);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  delay(100);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57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}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17DCAF4C-77B5-4DB9-8426-E3D1E1C9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238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0B6A73"/>
            </a:solidFill>
            <a:prstDash val="solid"/>
          </a:ln>
        </p:spPr>
      </p:sp>
      <p:sp>
        <p:nvSpPr>
          <p:cNvPr id="10" name="shape-10">
            <a:extLst xmlns:a="http://schemas.openxmlformats.org/drawingml/2006/main">
              <a:ext uri="{FF2B5EF4-FFF2-40B4-BE49-F238E27FC236}">
                <a16:creationId xmlns:a16="http://schemas.microsoft.com/office/drawing/2014/main" id="{A30D09B8-E90F-4AA5-8DA3-7D3227D6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FB320782-0F93-498D-A8B2-F79CCDF9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1452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INPUT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720BD16D-4808-45CF-9FBA-6F894AEC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analogRead(lightPin)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讀取光線</a:t>
            </a:r>
          </a:p>
        </p:txBody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B71851E1-6B19-474A-A511-5CA823AB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238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A56500"/>
            </a:solidFill>
            <a:prstDash val="solid"/>
          </a:ln>
        </p:spPr>
      </p:sp>
      <p:sp>
        <p:nvSpPr>
          <p:cNvPr id="14" name="shape-14">
            <a:extLst xmlns:a="http://schemas.openxmlformats.org/drawingml/2006/main">
              <a:ext uri="{FF2B5EF4-FFF2-40B4-BE49-F238E27FC236}">
                <a16:creationId xmlns:a16="http://schemas.microsoft.com/office/drawing/2014/main" id="{D78C2224-C940-4C91-9608-70BD13C4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500"/>
          </a:solidFill>
          <a:ln xmlns:a="http://schemas.openxmlformats.org/drawingml/2006/main" w="0">
            <a:solidFill>
              <a:srgbClr val="A56500"/>
            </a:solidFill>
            <a:prstDash val="solid"/>
          </a:ln>
        </p:spPr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02BA8372-3153-451C-8936-F2CC52BA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0040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A565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A56500"/>
                </a:solidFill>
                <a:latin typeface="Noto Sans CJK TC"/>
                <a:ea typeface="Noto Sans CJK TC"/>
                <a:cs typeface="Noto Sans CJK TC"/>
              </a:rPr>
              <a:t>PROCESS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BE95E691-1974-4FCF-96AB-D175F508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909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map(...)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把數值換成角度</a:t>
            </a:r>
          </a:p>
        </p:txBody>
      </p:sp>
      <p:sp>
        <p:nvSpPr>
          <p:cNvPr id="17" name="shape-17">
            <a:extLst xmlns:a="http://schemas.openxmlformats.org/drawingml/2006/main">
              <a:ext uri="{FF2B5EF4-FFF2-40B4-BE49-F238E27FC236}">
                <a16:creationId xmlns:a16="http://schemas.microsoft.com/office/drawing/2014/main" id="{19563B75-6254-40AB-9F20-7FD4C13A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3238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8ED"/>
          </a:solidFill>
          <a:ln xmlns:a="http://schemas.openxmlformats.org/drawingml/2006/main" w="9525">
            <a:solidFill>
              <a:srgbClr val="238755"/>
            </a:solidFill>
            <a:prstDash val="solid"/>
          </a:ln>
        </p:spPr>
      </p:sp>
      <p:sp>
        <p:nvSpPr>
          <p:cNvPr id="18" name="shape-18">
            <a:extLst xmlns:a="http://schemas.openxmlformats.org/drawingml/2006/main">
              <a:ext uri="{FF2B5EF4-FFF2-40B4-BE49-F238E27FC236}">
                <a16:creationId xmlns:a16="http://schemas.microsoft.com/office/drawing/2014/main" id="{0940593D-0582-4252-B34F-3DE8FA2A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8755"/>
          </a:solidFill>
          <a:ln xmlns:a="http://schemas.openxmlformats.org/drawingml/2006/main" w="0">
            <a:solidFill>
              <a:srgbClr val="238755"/>
            </a:solidFill>
            <a:prstDash val="solid"/>
          </a:ln>
        </p:spPr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8383C3C9-9BB3-4001-B6A3-CCB026D9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862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OUTPUT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70156591-45CF-4943-9DB7-2D30087A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motor.write(angle)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讓 Servo 動作</a:t>
            </a:r>
          </a:p>
        </p:txBody>
      </p:sp>
    </p:spTree>
    <p:extLst>
      <p:ext uri="{BB962C8B-B14F-4D97-AF65-F5344CB8AC3E}">
        <p14:creationId xmlns:p14="http://schemas.microsoft.com/office/powerpoint/2010/main" val="483571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16">
            <a:extLst xmlns:a="http://schemas.openxmlformats.org/drawingml/2006/main">
              <a:ext uri="{FF2B5EF4-FFF2-40B4-BE49-F238E27FC236}">
                <a16:creationId xmlns:a16="http://schemas.microsoft.com/office/drawing/2014/main" id="{6EE1064E-ADB3-44DA-AB2A-40EA277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16">
            <a:extLst xmlns:a="http://schemas.openxmlformats.org/drawingml/2006/main">
              <a:ext uri="{FF2B5EF4-FFF2-40B4-BE49-F238E27FC236}">
                <a16:creationId xmlns:a16="http://schemas.microsoft.com/office/drawing/2014/main" id="{17BA0CCA-4896-48EF-B5C1-8BBD765D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01｜小結</a:t>
            </a:r>
          </a:p>
        </p:txBody>
      </p:sp>
      <p:sp>
        <p:nvSpPr>
          <p:cNvPr id="3" name="title-16">
            <a:extLst xmlns:a="http://schemas.openxmlformats.org/drawingml/2006/main">
              <a:ext uri="{FF2B5EF4-FFF2-40B4-BE49-F238E27FC236}">
                <a16:creationId xmlns:a16="http://schemas.microsoft.com/office/drawing/2014/main" id="{DE7E00CC-8996-42C3-9CF6-BB05DBCB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第一章的重點，是能用三個問題讀程式</a:t>
            </a:r>
          </a:p>
        </p:txBody>
      </p:sp>
      <p:sp>
        <p:nvSpPr>
          <p:cNvPr id="4" name="page-16">
            <a:extLst xmlns:a="http://schemas.openxmlformats.org/drawingml/2006/main">
              <a:ext uri="{FF2B5EF4-FFF2-40B4-BE49-F238E27FC236}">
                <a16:creationId xmlns:a16="http://schemas.microsoft.com/office/drawing/2014/main" id="{D5D95729-51EA-4F5B-959C-7D0BF52C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2597576-8688-43D9-89F7-03CE94A7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?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4B4602F6-9665-4678-A8C6-EB4A7A13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955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資料從哪裡來？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F260271-E2D4-4496-B1FF-49F3DE53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analogRead 讀取感測器，資料存進 lightValue。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235B6E72-E15D-4DBD-8C07-03B24572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?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9BA06ABD-B90B-44B5-8EC6-7A355770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955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中間做了什麼？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80F766F8-B8CC-454F-A2A0-E218DDF2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81375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map 將輸入範圍轉成可使用的角度。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4018A20D-EE63-471F-A40C-D9601BE3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?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7D5FBD38-AED9-4486-A53B-6AFDEC26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955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最後誰做動作？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5325CD8E-01D4-4350-A1DD-E8A41F00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81375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motor.write 將 angle 送給 Servo。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7607EAFB-8C7B-42CC-954B-108BED4B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292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能回答這三題，就有能力判斷 AI 之後寫出的程式在做什麼。</a:t>
            </a:r>
          </a:p>
        </p:txBody>
      </p:sp>
    </p:spTree>
    <p:extLst>
      <p:ext uri="{BB962C8B-B14F-4D97-AF65-F5344CB8AC3E}">
        <p14:creationId xmlns:p14="http://schemas.microsoft.com/office/powerpoint/2010/main" val="18632368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3E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DDD7DE75-445C-474B-AAAF-B130AC72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CHAPTER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092A80D-B8DA-4CB5-AAAC-1BD32EF9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生成式 AI 協作開發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E382FD5-5CF8-4C9B-80C9-2B87BFFB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D8EFE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D8EFEB"/>
                </a:solidFill>
                <a:latin typeface="Noto Sans CJK TC"/>
                <a:ea typeface="Noto Sans CJK TC"/>
                <a:cs typeface="Noto Sans CJK TC"/>
              </a:rPr>
              <a:t>先把需求說清楚，再請 AI 協助；拿到程式後，仍要閱讀、實測、回報與修正。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258DCAA4-EF6E-4EF1-BA51-63666D22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CE5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BCE5DC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482929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cent-18">
            <a:extLst xmlns:a="http://schemas.openxmlformats.org/drawingml/2006/main">
              <a:ext uri="{FF2B5EF4-FFF2-40B4-BE49-F238E27FC236}">
                <a16:creationId xmlns:a16="http://schemas.microsoft.com/office/drawing/2014/main" id="{EB4CAA97-995F-4BE6-8CDB-BE6A46F9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18">
            <a:extLst xmlns:a="http://schemas.openxmlformats.org/drawingml/2006/main">
              <a:ext uri="{FF2B5EF4-FFF2-40B4-BE49-F238E27FC236}">
                <a16:creationId xmlns:a16="http://schemas.microsoft.com/office/drawing/2014/main" id="{48C14137-A455-4649-A021-EEFF3B2C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02</a:t>
            </a:r>
          </a:p>
        </p:txBody>
      </p:sp>
      <p:sp>
        <p:nvSpPr>
          <p:cNvPr id="3" name="title-18">
            <a:extLst xmlns:a="http://schemas.openxmlformats.org/drawingml/2006/main">
              <a:ext uri="{FF2B5EF4-FFF2-40B4-BE49-F238E27FC236}">
                <a16:creationId xmlns:a16="http://schemas.microsoft.com/office/drawing/2014/main" id="{66020AE1-FFDE-4EC0-8222-FC67BE9A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AI 不會讀心；資訊越完整，猜測越少</a:t>
            </a:r>
          </a:p>
        </p:txBody>
      </p:sp>
      <p:sp>
        <p:nvSpPr>
          <p:cNvPr id="4" name="page-18">
            <a:extLst xmlns:a="http://schemas.openxmlformats.org/drawingml/2006/main">
              <a:ext uri="{FF2B5EF4-FFF2-40B4-BE49-F238E27FC236}">
                <a16:creationId xmlns:a16="http://schemas.microsoft.com/office/drawing/2014/main" id="{3E6A535A-1D66-4C31-9DF7-C684124F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18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9D2290D1-AB2B-4C01-9B83-CC94DCFF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81625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3F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C27191C-820F-461D-AC33-50EE2717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B423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B42318"/>
                </a:solidFill>
                <a:latin typeface="Noto Sans CJK TC"/>
                <a:ea typeface="Noto Sans CJK TC"/>
                <a:cs typeface="Noto Sans CJK TC"/>
              </a:rPr>
              <a:t>Prompt A｜太模糊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EA7D081-8BD8-45AB-BA6B-3484643C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幫我寫 Arduino 馬達程式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E401D73-43A6-490E-8644-7EDE78AD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缺少：硬體、腳位、控制方式、動作規則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0A884494-9727-4078-941D-87E6254B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60070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9F8ED"/>
          </a:solidFill>
          <a:ln xmlns:a="http://schemas.openxmlformats.org/drawingml/2006/main" w="9525">
            <a:solidFill>
              <a:srgbClr val="238755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BEA58B96-7FCC-4557-96C4-26FD74B9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Prompt B｜有 Context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C343BFC5-FF7E-4E35-B9F7-7D5B35CF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Arduino UNO + SG90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訊號線接 D9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OPEN → 90°；CLOSE → 0°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請產生程式並解釋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145ACB8B-832D-4DDC-82F0-C818C5B4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721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好的 Prompt 不是越長越好，而是關鍵資訊足夠。</a:t>
            </a:r>
          </a:p>
        </p:txBody>
      </p:sp>
    </p:spTree>
    <p:extLst>
      <p:ext uri="{BB962C8B-B14F-4D97-AF65-F5344CB8AC3E}">
        <p14:creationId xmlns:p14="http://schemas.microsoft.com/office/powerpoint/2010/main" val="17330894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accent-19">
            <a:extLst xmlns:a="http://schemas.openxmlformats.org/drawingml/2006/main">
              <a:ext uri="{FF2B5EF4-FFF2-40B4-BE49-F238E27FC236}">
                <a16:creationId xmlns:a16="http://schemas.microsoft.com/office/drawing/2014/main" id="{2BF2FC1F-1B69-4444-9715-7311F011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19">
            <a:extLst xmlns:a="http://schemas.openxmlformats.org/drawingml/2006/main">
              <a:ext uri="{FF2B5EF4-FFF2-40B4-BE49-F238E27FC236}">
                <a16:creationId xmlns:a16="http://schemas.microsoft.com/office/drawing/2014/main" id="{D67A85C0-3E6A-4ADE-898C-C667DAA1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02</a:t>
            </a:r>
          </a:p>
        </p:txBody>
      </p:sp>
      <p:sp>
        <p:nvSpPr>
          <p:cNvPr id="3" name="title-19">
            <a:extLst xmlns:a="http://schemas.openxmlformats.org/drawingml/2006/main">
              <a:ext uri="{FF2B5EF4-FFF2-40B4-BE49-F238E27FC236}">
                <a16:creationId xmlns:a16="http://schemas.microsoft.com/office/drawing/2014/main" id="{01217CA0-04F4-456F-9BE7-52A05200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五問法把模糊想法拆成 AI 能使用的需求</a:t>
            </a:r>
          </a:p>
        </p:txBody>
      </p:sp>
      <p:sp>
        <p:nvSpPr>
          <p:cNvPr id="4" name="page-19">
            <a:extLst xmlns:a="http://schemas.openxmlformats.org/drawingml/2006/main">
              <a:ext uri="{FF2B5EF4-FFF2-40B4-BE49-F238E27FC236}">
                <a16:creationId xmlns:a16="http://schemas.microsoft.com/office/drawing/2014/main" id="{A8AFB805-BCB6-4F0E-8F83-F5A9D94B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19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6919260-9CF8-41D0-BBE4-18799120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CD80DEC-3163-4862-BF44-8D20A00D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714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我要做什麼？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7B5E341-7102-4D2B-9C46-706B568B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Goal</a:t>
            </a:r>
          </a:p>
        </p:txBody>
      </p:sp>
      <p:sp>
        <p:nvSpPr>
          <p:cNvPr id="8" name="shape-8">
            <a:extLst xmlns:a="http://schemas.openxmlformats.org/drawingml/2006/main">
              <a:ext uri="{FF2B5EF4-FFF2-40B4-BE49-F238E27FC236}">
                <a16:creationId xmlns:a16="http://schemas.microsoft.com/office/drawing/2014/main" id="{E6BC8736-EF3A-4416-B1D3-1262CFED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57425"/>
            <a:ext cx="9572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DDA"/>
          </a:solidFill>
          <a:ln xmlns:a="http://schemas.openxmlformats.org/drawingml/2006/main" w="0">
            <a:solidFill>
              <a:srgbClr val="C9DDDA"/>
            </a:solidFill>
            <a:prstDash val="solid"/>
          </a:ln>
        </p:spPr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4EBAF839-3F7E-41EA-B9D2-8007BA3E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53CED30A-0CA5-40D9-BB0A-F337564F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46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我有哪些東西？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329E6DC3-3371-4AC1-8041-F52AE4CE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431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Hardware / Resource</a:t>
            </a:r>
          </a:p>
        </p:txBody>
      </p:sp>
      <p:sp>
        <p:nvSpPr>
          <p:cNvPr id="12" name="shape-12">
            <a:extLst xmlns:a="http://schemas.openxmlformats.org/drawingml/2006/main">
              <a:ext uri="{FF2B5EF4-FFF2-40B4-BE49-F238E27FC236}">
                <a16:creationId xmlns:a16="http://schemas.microsoft.com/office/drawing/2014/main" id="{125736CE-1288-4BCC-9A18-3DC9AE1A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572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DDA"/>
          </a:solidFill>
          <a:ln xmlns:a="http://schemas.openxmlformats.org/drawingml/2006/main" w="0">
            <a:solidFill>
              <a:srgbClr val="C9DDDA"/>
            </a:solidFill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78E84B9C-1D0A-4442-B642-9A901F08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BD1394AD-A8B7-4E50-80DA-13C85B35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147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我要怎麼控制？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9C6CEAB1-263D-4697-AB37-2E2E921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432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Input / Control</a:t>
            </a:r>
          </a:p>
        </p:txBody>
      </p:sp>
      <p:sp>
        <p:nvSpPr>
          <p:cNvPr id="16" name="shape-16">
            <a:extLst xmlns:a="http://schemas.openxmlformats.org/drawingml/2006/main">
              <a:ext uri="{FF2B5EF4-FFF2-40B4-BE49-F238E27FC236}">
                <a16:creationId xmlns:a16="http://schemas.microsoft.com/office/drawing/2014/main" id="{8C5831E6-1DEB-4C30-9A38-CFDBAB13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57625"/>
            <a:ext cx="9572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DDA"/>
          </a:solidFill>
          <a:ln xmlns:a="http://schemas.openxmlformats.org/drawingml/2006/main" w="0">
            <a:solidFill>
              <a:srgbClr val="C9DDDA"/>
            </a:solidFill>
            <a:prstDash val="solid"/>
          </a:ln>
        </p:spPr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4C8DA856-D9EB-4467-A3E6-231BF90F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A61560BC-110D-4792-BAB3-FD290373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14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不同情況要怎麼做？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283C99EE-3CC4-43F3-A4F4-ADDF5B24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Logic / Behavior</a:t>
            </a:r>
          </a:p>
        </p:txBody>
      </p:sp>
      <p:sp>
        <p:nvSpPr>
          <p:cNvPr id="20" name="shape-20">
            <a:extLst xmlns:a="http://schemas.openxmlformats.org/drawingml/2006/main">
              <a:ext uri="{FF2B5EF4-FFF2-40B4-BE49-F238E27FC236}">
                <a16:creationId xmlns:a16="http://schemas.microsoft.com/office/drawing/2014/main" id="{17D9262A-BE6D-4325-9AC1-3E3C8E92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57725"/>
            <a:ext cx="9572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DDA"/>
          </a:solidFill>
          <a:ln xmlns:a="http://schemas.openxmlformats.org/drawingml/2006/main" w="0">
            <a:solidFill>
              <a:srgbClr val="C9DDDA"/>
            </a:solidFill>
            <a:prstDash val="solid"/>
          </a:ln>
        </p:spPr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CA3F0033-2AFB-4647-82D4-65133083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⑤</a:t>
            </a:r>
          </a:p>
        </p:txBody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D3345E47-F03B-4362-974C-33874B4C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我要 AI 怎麼幫？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692EC666-655A-4054-A6AD-73344217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434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AI Role / Output</a:t>
            </a:r>
          </a:p>
        </p:txBody>
      </p:sp>
    </p:spTree>
    <p:extLst>
      <p:ext uri="{BB962C8B-B14F-4D97-AF65-F5344CB8AC3E}">
        <p14:creationId xmlns:p14="http://schemas.microsoft.com/office/powerpoint/2010/main" val="14424045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accent-20">
            <a:extLst xmlns:a="http://schemas.openxmlformats.org/drawingml/2006/main">
              <a:ext uri="{FF2B5EF4-FFF2-40B4-BE49-F238E27FC236}">
                <a16:creationId xmlns:a16="http://schemas.microsoft.com/office/drawing/2014/main" id="{F4C5EEE4-CA31-42A3-88B1-F5D22D3F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20">
            <a:extLst xmlns:a="http://schemas.openxmlformats.org/drawingml/2006/main">
              <a:ext uri="{FF2B5EF4-FFF2-40B4-BE49-F238E27FC236}">
                <a16:creationId xmlns:a16="http://schemas.microsoft.com/office/drawing/2014/main" id="{3C5AF126-564C-4B17-8B99-0834AA4F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02</a:t>
            </a:r>
          </a:p>
        </p:txBody>
      </p:sp>
      <p:sp>
        <p:nvSpPr>
          <p:cNvPr id="3" name="title-20">
            <a:extLst xmlns:a="http://schemas.openxmlformats.org/drawingml/2006/main">
              <a:ext uri="{FF2B5EF4-FFF2-40B4-BE49-F238E27FC236}">
                <a16:creationId xmlns:a16="http://schemas.microsoft.com/office/drawing/2014/main" id="{34937B7D-D486-4FE8-ACBD-9F9609E5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Prompt Coach 是需求整理助手，不是解題 AI</a:t>
            </a:r>
          </a:p>
        </p:txBody>
      </p:sp>
      <p:sp>
        <p:nvSpPr>
          <p:cNvPr id="4" name="page-20">
            <a:extLst xmlns:a="http://schemas.openxmlformats.org/drawingml/2006/main">
              <a:ext uri="{FF2B5EF4-FFF2-40B4-BE49-F238E27FC236}">
                <a16:creationId xmlns:a16="http://schemas.microsoft.com/office/drawing/2014/main" id="{2F037C7C-222E-4538-97F8-5A652094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20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4803CE24-4C92-45EF-814A-8CF3493D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462213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0F8ADF4-31E2-4796-BD36-2B8CD348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76475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學生輸入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94283BA-AE8F-4508-9D0D-EFF39A6F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2119313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五問需求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AFFCB1D-AB10-4CFA-A97F-FC3CC09B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2495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947D31C8-2D1D-4782-BD93-E5FBF3DA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47875"/>
            <a:ext cx="2462213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6AE2D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9E286E43-5CC0-4042-9539-C2207F07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276475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檢查缺漏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839C9BCC-B1E2-4988-9711-170B1E67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790825"/>
            <a:ext cx="2119313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腳位、控制、邏輯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47AED7D9-E02A-410D-B8DA-F9BBC17C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495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1D1C65FA-71DC-4DBF-BE87-93A4A3EC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47875"/>
            <a:ext cx="2462213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1BBD1C9F-7F2C-4B87-BD4D-E20422A9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76475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整理需求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9BAD8BD9-8D4B-468A-9BA8-8F9CFCBA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90825"/>
            <a:ext cx="2119313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不增加未提供的事實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C00C30D4-3BBE-4831-81C0-E2DDAA18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495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7" name="shape-17">
            <a:extLst xmlns:a="http://schemas.openxmlformats.org/drawingml/2006/main">
              <a:ext uri="{FF2B5EF4-FFF2-40B4-BE49-F238E27FC236}">
                <a16:creationId xmlns:a16="http://schemas.microsoft.com/office/drawing/2014/main" id="{42DF9302-A0C9-4C7F-BD65-61DFD065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2047875"/>
            <a:ext cx="2462213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9F8ED"/>
          </a:solidFill>
          <a:ln xmlns:a="http://schemas.openxmlformats.org/drawingml/2006/main" w="9525">
            <a:solidFill>
              <a:srgbClr val="238755"/>
            </a:solidFill>
            <a:prstDash val="solid"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46C420BB-C224-49F4-8341-9B1F4F9B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276475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完整 Prompt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62D1D83E-6E98-4348-8C8A-9E257C89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790825"/>
            <a:ext cx="2119313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交給外部 AI</a:t>
            </a:r>
          </a:p>
        </p:txBody>
      </p:sp>
      <p:sp>
        <p:nvSpPr>
          <p:cNvPr id="20" name="shape-20">
            <a:extLst xmlns:a="http://schemas.openxmlformats.org/drawingml/2006/main">
              <a:ext uri="{FF2B5EF4-FFF2-40B4-BE49-F238E27FC236}">
                <a16:creationId xmlns:a16="http://schemas.microsoft.com/office/drawing/2014/main" id="{6EB94159-1F31-4CED-A6F2-3FAE2DE2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572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9F8ED"/>
          </a:solidFill>
          <a:ln xmlns:a="http://schemas.openxmlformats.org/drawingml/2006/main" w="9525">
            <a:solidFill>
              <a:srgbClr val="238755"/>
            </a:solidFill>
            <a:prstDash val="solid"/>
          </a:ln>
        </p:spPr>
      </p:sp>
      <p:sp>
        <p:nvSpPr>
          <p:cNvPr id="21" name="shape-21">
            <a:extLst xmlns:a="http://schemas.openxmlformats.org/drawingml/2006/main">
              <a:ext uri="{FF2B5EF4-FFF2-40B4-BE49-F238E27FC236}">
                <a16:creationId xmlns:a16="http://schemas.microsoft.com/office/drawing/2014/main" id="{5050104F-9F75-45F0-91A3-B0D1D0B7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8755"/>
          </a:solidFill>
          <a:ln xmlns:a="http://schemas.openxmlformats.org/drawingml/2006/main" w="0">
            <a:solidFill>
              <a:srgbClr val="238755"/>
            </a:solidFill>
            <a:prstDash val="solid"/>
          </a:ln>
        </p:spPr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CEFD31C6-98D3-4E50-A54F-AB5F8C9D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它可以做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5EB9088D-DA92-40B8-8B47-5A23A329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81575"/>
            <a:ext cx="4152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整理語句、分類資訊、指出缺漏、提出補充問題。</a:t>
            </a:r>
          </a:p>
        </p:txBody>
      </p:sp>
      <p:sp>
        <p:nvSpPr>
          <p:cNvPr id="24" name="shape-24">
            <a:extLst xmlns:a="http://schemas.openxmlformats.org/drawingml/2006/main">
              <a:ext uri="{FF2B5EF4-FFF2-40B4-BE49-F238E27FC236}">
                <a16:creationId xmlns:a16="http://schemas.microsoft.com/office/drawing/2014/main" id="{DCEB9C3C-1FD8-4A24-99DF-B21D1B72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4572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3F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5" name="shape-25">
            <a:extLst xmlns:a="http://schemas.openxmlformats.org/drawingml/2006/main">
              <a:ext uri="{FF2B5EF4-FFF2-40B4-BE49-F238E27FC236}">
                <a16:creationId xmlns:a16="http://schemas.microsoft.com/office/drawing/2014/main" id="{7811064F-ACA0-4E10-9073-389351C8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4C3724DD-3825-488B-A827-8AFF7D73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24375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B423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B42318"/>
                </a:solidFill>
                <a:latin typeface="Noto Sans CJK TC"/>
                <a:ea typeface="Noto Sans CJK TC"/>
                <a:cs typeface="Noto Sans CJK TC"/>
              </a:rPr>
              <a:t>它不應該做</a:t>
            </a:r>
          </a:p>
        </p:txBody>
      </p:sp>
      <p:sp>
        <p:nvSpPr>
          <p:cNvPr id="27" name="text-27">
            <a:extLst xmlns:a="http://schemas.openxmlformats.org/drawingml/2006/main">
              <a:ext uri="{FF2B5EF4-FFF2-40B4-BE49-F238E27FC236}">
                <a16:creationId xmlns:a16="http://schemas.microsoft.com/office/drawing/2014/main" id="{511758EC-9075-4BF6-B59B-8004B96D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81575"/>
            <a:ext cx="4152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7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自行猜硬體與腳位、悄悄改變需求、直接替學生完成 Arduino 題目。</a:t>
            </a:r>
          </a:p>
        </p:txBody>
      </p:sp>
    </p:spTree>
    <p:extLst>
      <p:ext uri="{BB962C8B-B14F-4D97-AF65-F5344CB8AC3E}">
        <p14:creationId xmlns:p14="http://schemas.microsoft.com/office/powerpoint/2010/main" val="13919264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ccent-21">
            <a:extLst xmlns:a="http://schemas.openxmlformats.org/drawingml/2006/main">
              <a:ext uri="{FF2B5EF4-FFF2-40B4-BE49-F238E27FC236}">
                <a16:creationId xmlns:a16="http://schemas.microsoft.com/office/drawing/2014/main" id="{980CADFC-0A8D-4E38-B3FF-7E719441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21">
            <a:extLst xmlns:a="http://schemas.openxmlformats.org/drawingml/2006/main">
              <a:ext uri="{FF2B5EF4-FFF2-40B4-BE49-F238E27FC236}">
                <a16:creationId xmlns:a16="http://schemas.microsoft.com/office/drawing/2014/main" id="{E8A033A8-4468-4E7D-8A73-86D2203C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02</a:t>
            </a:r>
          </a:p>
        </p:txBody>
      </p:sp>
      <p:sp>
        <p:nvSpPr>
          <p:cNvPr id="3" name="title-21">
            <a:extLst xmlns:a="http://schemas.openxmlformats.org/drawingml/2006/main">
              <a:ext uri="{FF2B5EF4-FFF2-40B4-BE49-F238E27FC236}">
                <a16:creationId xmlns:a16="http://schemas.microsoft.com/office/drawing/2014/main" id="{C3EA3886-EEA7-4EE5-B19E-BCADDEAC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缺少事實時，要 clarification，不要讓 AI 猜</a:t>
            </a:r>
          </a:p>
        </p:txBody>
      </p:sp>
      <p:sp>
        <p:nvSpPr>
          <p:cNvPr id="4" name="page-21">
            <a:extLst xmlns:a="http://schemas.openxmlformats.org/drawingml/2006/main">
              <a:ext uri="{FF2B5EF4-FFF2-40B4-BE49-F238E27FC236}">
                <a16:creationId xmlns:a16="http://schemas.microsoft.com/office/drawing/2014/main" id="{C5BCE632-BA10-4A3B-A3CE-58C4617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21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5D12193-3A48-4BB2-8EBD-D83BDDF3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我要讓 Servo 動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4644A1F-D547-4455-A7F0-535904F2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241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F3598ADE-CBCA-48CE-B3DD-FD0CE83E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6AE2D"/>
            </a:solidFill>
            <a:prstDash val="solid"/>
          </a:ln>
        </p:spPr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4289BC42-0FF9-4982-8F5A-B3ABD80E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43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還需要補充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7D7EBECB-DCD9-49D4-B9EA-4E2012AD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7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• Servo 要怎麼動？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7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• 由什麼輸入控制？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7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• 訊號線實際接哪一腳？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7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• 哪些情況對應哪些角度？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062B40EA-6AE0-4E44-83F7-5CDA1582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863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AI 不知道的資訊，由人回到實際硬體查清楚。</a:t>
            </a:r>
          </a:p>
        </p:txBody>
      </p:sp>
    </p:spTree>
    <p:extLst>
      <p:ext uri="{BB962C8B-B14F-4D97-AF65-F5344CB8AC3E}">
        <p14:creationId xmlns:p14="http://schemas.microsoft.com/office/powerpoint/2010/main" val="11884980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cent-22">
            <a:extLst xmlns:a="http://schemas.openxmlformats.org/drawingml/2006/main">
              <a:ext uri="{FF2B5EF4-FFF2-40B4-BE49-F238E27FC236}">
                <a16:creationId xmlns:a16="http://schemas.microsoft.com/office/drawing/2014/main" id="{33D3F632-A680-41E9-8BDB-66F71E39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22">
            <a:extLst xmlns:a="http://schemas.openxmlformats.org/drawingml/2006/main">
              <a:ext uri="{FF2B5EF4-FFF2-40B4-BE49-F238E27FC236}">
                <a16:creationId xmlns:a16="http://schemas.microsoft.com/office/drawing/2014/main" id="{70BC3D3A-EB7F-4A7F-B9B9-62937853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02</a:t>
            </a:r>
          </a:p>
        </p:txBody>
      </p:sp>
      <p:sp>
        <p:nvSpPr>
          <p:cNvPr id="3" name="title-22">
            <a:extLst xmlns:a="http://schemas.openxmlformats.org/drawingml/2006/main">
              <a:ext uri="{FF2B5EF4-FFF2-40B4-BE49-F238E27FC236}">
                <a16:creationId xmlns:a16="http://schemas.microsoft.com/office/drawing/2014/main" id="{8D595ADA-03EF-4F98-8F52-08287C8B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整理後的 Prompt，應該讓需求可檢查</a:t>
            </a:r>
          </a:p>
        </p:txBody>
      </p:sp>
      <p:sp>
        <p:nvSpPr>
          <p:cNvPr id="4" name="page-22">
            <a:extLst xmlns:a="http://schemas.openxmlformats.org/drawingml/2006/main">
              <a:ext uri="{FF2B5EF4-FFF2-40B4-BE49-F238E27FC236}">
                <a16:creationId xmlns:a16="http://schemas.microsoft.com/office/drawing/2014/main" id="{80F4EAA0-3228-4FAA-9A6B-0653410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22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43A6CB64-2319-4CC6-9BAE-713F3EB6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000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882ABDD-3A60-419D-A6DD-01AA6C75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423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B42318"/>
                </a:solidFill>
                <a:latin typeface="Noto Sans CJK TC"/>
                <a:ea typeface="Noto Sans CJK TC"/>
                <a:cs typeface="Noto Sans CJK TC"/>
              </a:rPr>
              <a:t>BEFORE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81C7F81-2A24-45EC-9D7A-3674F7BD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做一個柵欄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Arduino UNO + Servo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用電腦控制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OPEN 打開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CLOSE 關閉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5A6C1686-2910-4ADF-9C62-5B326B81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908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0EACD57E-1147-499D-AB8A-7232C172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62125"/>
            <a:ext cx="6172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0B6A73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E70E22B-03A2-4CF6-8D96-1293DE4F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AFTER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0FC0CC04-10E4-4164-99C4-1B5A0872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5476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【目標】Serial 控制小柵欄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【硬體】Arduino UNO、SG90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【控制】Serial Monitor 輸入文字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【邏輯】OPEN → 90°；CLOSE → 0°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【接線】Servo 訊號線 D9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【需要 AI】產生簡單程式並逐段解釋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C137923C-CF2B-44F9-969A-AC0718D5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提交前先看 Before / After：有沒有被改錯？有沒有仍然缺資料？</a:t>
            </a:r>
          </a:p>
        </p:txBody>
      </p:sp>
    </p:spTree>
    <p:extLst>
      <p:ext uri="{BB962C8B-B14F-4D97-AF65-F5344CB8AC3E}">
        <p14:creationId xmlns:p14="http://schemas.microsoft.com/office/powerpoint/2010/main" val="573289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accent-23">
            <a:extLst xmlns:a="http://schemas.openxmlformats.org/drawingml/2006/main">
              <a:ext uri="{FF2B5EF4-FFF2-40B4-BE49-F238E27FC236}">
                <a16:creationId xmlns:a16="http://schemas.microsoft.com/office/drawing/2014/main" id="{C1CDD943-140F-4005-9D6F-A91B23E3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23">
            <a:extLst xmlns:a="http://schemas.openxmlformats.org/drawingml/2006/main">
              <a:ext uri="{FF2B5EF4-FFF2-40B4-BE49-F238E27FC236}">
                <a16:creationId xmlns:a16="http://schemas.microsoft.com/office/drawing/2014/main" id="{B3450D74-E968-4537-91AA-E3126780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02</a:t>
            </a:r>
          </a:p>
        </p:txBody>
      </p:sp>
      <p:sp>
        <p:nvSpPr>
          <p:cNvPr id="3" name="title-23">
            <a:extLst xmlns:a="http://schemas.openxmlformats.org/drawingml/2006/main">
              <a:ext uri="{FF2B5EF4-FFF2-40B4-BE49-F238E27FC236}">
                <a16:creationId xmlns:a16="http://schemas.microsoft.com/office/drawing/2014/main" id="{AE92330A-63CE-47ED-A2B7-39451A6E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完整 Prompt 要交給外部 AI，再把程式帶回來</a:t>
            </a:r>
          </a:p>
        </p:txBody>
      </p:sp>
      <p:sp>
        <p:nvSpPr>
          <p:cNvPr id="4" name="page-23">
            <a:extLst xmlns:a="http://schemas.openxmlformats.org/drawingml/2006/main">
              <a:ext uri="{FF2B5EF4-FFF2-40B4-BE49-F238E27FC236}">
                <a16:creationId xmlns:a16="http://schemas.microsoft.com/office/drawing/2014/main" id="{B2E07CF6-A4D3-4EF6-A200-AF492C3F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23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573B8F49-41DA-4145-B800-C3F6DDF0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462213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07B760B-A7D9-45C7-ACFF-903FAE06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網站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6522F22-D687-4876-9E74-B50E2852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2119313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產生完整 Prompt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14B0429-20E3-46B9-92F0-97416AF0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25431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9C1C7C08-809E-4604-A74B-8440A781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95500"/>
            <a:ext cx="2462213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3EDFB"/>
          </a:solidFill>
          <a:ln xmlns:a="http://schemas.openxmlformats.org/drawingml/2006/main" w="9525">
            <a:solidFill>
              <a:srgbClr val="7B56B4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CC008B41-96CC-4F6F-8BA4-1DBF829F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32410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7B56B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7B56B4"/>
                </a:solidFill>
                <a:latin typeface="Noto Sans CJK TC"/>
                <a:ea typeface="Noto Sans CJK TC"/>
                <a:cs typeface="Noto Sans CJK TC"/>
              </a:rPr>
              <a:t>外部 AI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A8461054-0F19-403D-96FF-B9EDE1D0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838450"/>
            <a:ext cx="2119313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Coding AI / ChatGPT / Gemini / Copilot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AAAD1D9B-2FB1-42B6-AA72-F3084E68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431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BF80E269-5BA0-4CC6-8CA3-E04C2585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95500"/>
            <a:ext cx="2462213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52612A4E-EA06-463E-92E5-9BE59B60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2410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貼回網站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CC8F8A6A-4684-4613-B5FF-BA1925E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38450"/>
            <a:ext cx="2119313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保留程式與學習紀錄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6E354912-B813-4429-A21C-2F2B62E1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431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7" name="shape-17">
            <a:extLst xmlns:a="http://schemas.openxmlformats.org/drawingml/2006/main">
              <a:ext uri="{FF2B5EF4-FFF2-40B4-BE49-F238E27FC236}">
                <a16:creationId xmlns:a16="http://schemas.microsoft.com/office/drawing/2014/main" id="{5926D747-0845-4AD6-BD14-58276BA8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2095500"/>
            <a:ext cx="2462213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9F8ED"/>
          </a:solidFill>
          <a:ln xmlns:a="http://schemas.openxmlformats.org/drawingml/2006/main" w="9525">
            <a:solidFill>
              <a:srgbClr val="238755"/>
            </a:solidFill>
            <a:prstDash val="solid"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4D9E8F2E-C7A6-4E14-9FC0-4DABCE47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32410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Arduino IDE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D7EB292D-D9FB-46AB-B921-21A9945A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838450"/>
            <a:ext cx="2119313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Compile、Upload、實測</a:t>
            </a:r>
          </a:p>
        </p:txBody>
      </p:sp>
      <p:sp>
        <p:nvSpPr>
          <p:cNvPr id="20" name="shape-20">
            <a:extLst xmlns:a="http://schemas.openxmlformats.org/drawingml/2006/main">
              <a:ext uri="{FF2B5EF4-FFF2-40B4-BE49-F238E27FC236}">
                <a16:creationId xmlns:a16="http://schemas.microsoft.com/office/drawing/2014/main" id="{011A6E2E-B153-4480-9C67-72A3418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8763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0B6A73"/>
            </a:solidFill>
            <a:prstDash val="solid"/>
          </a:ln>
        </p:spPr>
      </p:sp>
      <p:sp>
        <p:nvSpPr>
          <p:cNvPr id="21" name="shape-21">
            <a:extLst xmlns:a="http://schemas.openxmlformats.org/drawingml/2006/main">
              <a:ext uri="{FF2B5EF4-FFF2-40B4-BE49-F238E27FC236}">
                <a16:creationId xmlns:a16="http://schemas.microsoft.com/office/drawing/2014/main" id="{3392AE0D-5BCF-4108-A447-529D215A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C61618B0-88DC-45CE-9DCE-01F56A2B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10125"/>
            <a:ext cx="834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角色分工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C56F980F-EF8A-4DFA-8EFB-B37A62BD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67325"/>
            <a:ext cx="8343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網站負責理解與流程；外部 AI 協助產生或解釋程式；Arduino UNO 負責驗證結果。</a:t>
            </a:r>
          </a:p>
        </p:txBody>
      </p:sp>
    </p:spTree>
    <p:extLst>
      <p:ext uri="{BB962C8B-B14F-4D97-AF65-F5344CB8AC3E}">
        <p14:creationId xmlns:p14="http://schemas.microsoft.com/office/powerpoint/2010/main" val="12653929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cent-24">
            <a:extLst xmlns:a="http://schemas.openxmlformats.org/drawingml/2006/main">
              <a:ext uri="{FF2B5EF4-FFF2-40B4-BE49-F238E27FC236}">
                <a16:creationId xmlns:a16="http://schemas.microsoft.com/office/drawing/2014/main" id="{166FEA89-16B2-4685-8004-DEC88390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24">
            <a:extLst xmlns:a="http://schemas.openxmlformats.org/drawingml/2006/main">
              <a:ext uri="{FF2B5EF4-FFF2-40B4-BE49-F238E27FC236}">
                <a16:creationId xmlns:a16="http://schemas.microsoft.com/office/drawing/2014/main" id="{C5996A0A-5136-4BB5-9583-4AE2F372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02</a:t>
            </a:r>
          </a:p>
        </p:txBody>
      </p:sp>
      <p:sp>
        <p:nvSpPr>
          <p:cNvPr id="3" name="title-24">
            <a:extLst xmlns:a="http://schemas.openxmlformats.org/drawingml/2006/main">
              <a:ext uri="{FF2B5EF4-FFF2-40B4-BE49-F238E27FC236}">
                <a16:creationId xmlns:a16="http://schemas.microsoft.com/office/drawing/2014/main" id="{0573DFAE-3150-423F-A1C9-160D45CB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AI 回答不是完成；Upload 後的現象才是證據</a:t>
            </a:r>
          </a:p>
        </p:txBody>
      </p:sp>
      <p:sp>
        <p:nvSpPr>
          <p:cNvPr id="4" name="page-24">
            <a:extLst xmlns:a="http://schemas.openxmlformats.org/drawingml/2006/main">
              <a:ext uri="{FF2B5EF4-FFF2-40B4-BE49-F238E27FC236}">
                <a16:creationId xmlns:a16="http://schemas.microsoft.com/office/drawing/2014/main" id="{A78FE629-F450-43FE-9643-7ED5C44F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24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6A8A15FD-E6D9-4061-BC38-11CDD30B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462213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44FDA71-C4F2-42DB-9FF3-AE9BFC77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閱讀程式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38D556E-6733-414E-8E37-905144A5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2119313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找 Input / Process / Output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5FC71CB1-9988-4FF2-B9F9-EDF4A4D5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24479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5375399B-90B1-4581-B451-81A4E37A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00250"/>
            <a:ext cx="2462213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C9DDDA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09441DEC-9D4A-4163-B6E8-C529D7B5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22885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Compile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A6EFF58A-6A85-4DD2-ABAD-D9D066A1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743200"/>
            <a:ext cx="2119313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先處理語法或函式錯誤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8244053E-8091-459B-AAED-63814430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4479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CF0AEF49-0E55-4DE0-B0BC-5D3E9A4B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0250"/>
            <a:ext cx="2462213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6AE2D"/>
            </a:solidFill>
            <a:prstDash val="solid"/>
          </a:ln>
        </p:spPr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C2C83B32-DE24-4A4D-8C87-825C306D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2885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Upload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E0AE2674-B2C1-4FBC-9554-C710B2C5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43200"/>
            <a:ext cx="2119313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確認板子、Port、連線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6768AE00-2672-45AB-881C-C83462D2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4479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7" name="shape-17">
            <a:extLst xmlns:a="http://schemas.openxmlformats.org/drawingml/2006/main">
              <a:ext uri="{FF2B5EF4-FFF2-40B4-BE49-F238E27FC236}">
                <a16:creationId xmlns:a16="http://schemas.microsoft.com/office/drawing/2014/main" id="{8CC52FA3-3326-4BF3-99F2-DDAF00AB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2000250"/>
            <a:ext cx="2462213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9F8ED"/>
          </a:solidFill>
          <a:ln xmlns:a="http://schemas.openxmlformats.org/drawingml/2006/main" w="9525">
            <a:solidFill>
              <a:srgbClr val="238755"/>
            </a:solidFill>
            <a:prstDash val="solid"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59BA40F5-9766-4905-9A68-EC185BC2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228850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實測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44D6CBB4-8623-4734-A5FA-A12F2998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743200"/>
            <a:ext cx="2119313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觀察數字與硬體動作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C802FD4E-A79D-49F6-AED8-8C18F098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A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5A740143-6C63-4AC7-84B6-59AA0B18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768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完全成功</a:t>
            </a:r>
          </a:p>
        </p:txBody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2CF79C00-DF49-4C60-BFE1-CBECE7CD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03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符合需求，也能說明原因。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0E8751BA-5342-4C95-84EF-3B156D6B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3387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B</a:t>
            </a:r>
          </a:p>
        </p:txBody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1D1DFB1A-A214-4525-8756-4A5DD38A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768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能跑但效果不符</a:t>
            </a:r>
          </a:p>
        </p:txBody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8868EB5D-7611-41AD-A1A4-0A4F125F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6262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03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記錄實際現象與期望差異。</a:t>
            </a:r>
          </a:p>
        </p:txBody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7B4DBFC6-575F-4BC1-9B2F-05EBB47B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3387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C</a:t>
            </a:r>
          </a:p>
        </p:txBody>
      </p:sp>
      <p:sp>
        <p:nvSpPr>
          <p:cNvPr id="27" name="text-27">
            <a:extLst xmlns:a="http://schemas.openxmlformats.org/drawingml/2006/main">
              <a:ext uri="{FF2B5EF4-FFF2-40B4-BE49-F238E27FC236}">
                <a16:creationId xmlns:a16="http://schemas.microsoft.com/office/drawing/2014/main" id="{6F2AD002-D3A6-4C85-9DE0-BF5F23A2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768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錯誤或無反應</a:t>
            </a:r>
          </a:p>
        </p:txBody>
      </p:sp>
      <p:sp>
        <p:nvSpPr>
          <p:cNvPr id="28" name="text-28">
            <a:extLst xmlns:a="http://schemas.openxmlformats.org/drawingml/2006/main">
              <a:ext uri="{FF2B5EF4-FFF2-40B4-BE49-F238E27FC236}">
                <a16:creationId xmlns:a16="http://schemas.microsoft.com/office/drawing/2014/main" id="{5EBB6C3C-170F-4C56-8B7F-D89EA46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6262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03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保留錯誤訊息、接線與已嘗試事項。</a:t>
            </a:r>
          </a:p>
        </p:txBody>
      </p:sp>
    </p:spTree>
    <p:extLst>
      <p:ext uri="{BB962C8B-B14F-4D97-AF65-F5344CB8AC3E}">
        <p14:creationId xmlns:p14="http://schemas.microsoft.com/office/powerpoint/2010/main" val="16047939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25">
            <a:extLst xmlns:a="http://schemas.openxmlformats.org/drawingml/2006/main">
              <a:ext uri="{FF2B5EF4-FFF2-40B4-BE49-F238E27FC236}">
                <a16:creationId xmlns:a16="http://schemas.microsoft.com/office/drawing/2014/main" id="{49006370-2B2E-4C62-9775-8B42B194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25">
            <a:extLst xmlns:a="http://schemas.openxmlformats.org/drawingml/2006/main">
              <a:ext uri="{FF2B5EF4-FFF2-40B4-BE49-F238E27FC236}">
                <a16:creationId xmlns:a16="http://schemas.microsoft.com/office/drawing/2014/main" id="{23967ACE-9288-494C-BAD3-83D3CB8D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02</a:t>
            </a:r>
          </a:p>
        </p:txBody>
      </p:sp>
      <p:sp>
        <p:nvSpPr>
          <p:cNvPr id="3" name="title-25">
            <a:extLst xmlns:a="http://schemas.openxmlformats.org/drawingml/2006/main">
              <a:ext uri="{FF2B5EF4-FFF2-40B4-BE49-F238E27FC236}">
                <a16:creationId xmlns:a16="http://schemas.microsoft.com/office/drawing/2014/main" id="{62761660-05A0-44EA-A608-DEAF2CA6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好的 Debug 回報，描述可重現的事實</a:t>
            </a:r>
          </a:p>
        </p:txBody>
      </p:sp>
      <p:sp>
        <p:nvSpPr>
          <p:cNvPr id="4" name="page-25">
            <a:extLst xmlns:a="http://schemas.openxmlformats.org/drawingml/2006/main">
              <a:ext uri="{FF2B5EF4-FFF2-40B4-BE49-F238E27FC236}">
                <a16:creationId xmlns:a16="http://schemas.microsoft.com/office/drawing/2014/main" id="{8714029C-124C-42D9-91AB-17A99D2E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25</a:t>
            </a:r>
          </a:p>
        </p:txBody>
      </p:sp>
      <p:sp>
        <p:nvSpPr>
          <p:cNvPr id="5" name="code-5">
            <a:extLst xmlns:a="http://schemas.openxmlformats.org/drawingml/2006/main">
              <a:ext uri="{FF2B5EF4-FFF2-40B4-BE49-F238E27FC236}">
                <a16:creationId xmlns:a16="http://schemas.microsoft.com/office/drawing/2014/main" id="{356A1723-CC1D-4F52-AEC7-4F4185FF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7239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12D34"/>
          </a:solidFill>
          <a:ln xmlns:a="http://schemas.openxmlformats.org/drawingml/2006/main" w="9525">
            <a:solidFill>
              <a:srgbClr val="294B50"/>
            </a:solidFill>
            <a:prstDash val="solid"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4989BA38-9B36-41D3-AD20-B325F8D5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7239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42A"/>
          </a:solidFill>
          <a:ln xmlns:a="http://schemas.openxmlformats.org/drawingml/2006/main" w="0">
            <a:solidFill>
              <a:srgbClr val="0B242A"/>
            </a:solidFill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4CBA6FA8-8E04-4496-9210-D08F5484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693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E8F4F2"/>
                </a:solidFill>
                <a:latin typeface="Noto Sans CJK TC"/>
                <a:ea typeface="Noto Sans CJK TC"/>
                <a:cs typeface="Noto Sans CJK TC"/>
              </a:rPr>
              <a:t>Debug 回報範例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69BC5E24-5BEE-4BCD-B1DF-0E928137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6858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72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現象：Compile 成功、Upload 成功，但 Servo 不動。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72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錯誤訊息：沒有。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72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實際接線：棕線 GND、紅線 5V、橘線 D9。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defRPr>
            </a:pPr>
            <a:r>
              <a:rPr sz="1725" b="0">
                <a:solidFill>
                  <a:srgbClr val="E8F4F2"/>
                </a:solidFill>
                <a:latin typeface="Noto Sans Mono CJK TC"/>
                <a:ea typeface="Noto Sans Mono CJK TC"/>
                <a:cs typeface="Noto Sans Mono CJK TC"/>
              </a:rPr>
              <a:t>已嘗試：重新 Upload，並確認 Serial Monitor 有收到 OPEN。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A86C650B-C6E0-4868-8F8E-797EB792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2385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F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0" name="shape-10">
            <a:extLst xmlns:a="http://schemas.openxmlformats.org/drawingml/2006/main">
              <a:ext uri="{FF2B5EF4-FFF2-40B4-BE49-F238E27FC236}">
                <a16:creationId xmlns:a16="http://schemas.microsoft.com/office/drawing/2014/main" id="{02F0FC93-F20C-47AE-9D90-8D58A5BC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76200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CBF5D3EA-D6AF-4E2F-9D00-23DA8557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4312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B4231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B42318"/>
                </a:solidFill>
                <a:latin typeface="Noto Sans CJK TC"/>
                <a:ea typeface="Noto Sans CJK TC"/>
                <a:cs typeface="Noto Sans CJK TC"/>
              </a:rPr>
              <a:t>不要只說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CAB411F5-2606-46A8-A0C9-A62CB55A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0325"/>
            <a:ext cx="2819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「不能動」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「程式壞了」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「幫我重寫」</a:t>
            </a:r>
          </a:p>
        </p:txBody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21F95018-62D0-4C00-B8D1-D4B0B53C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9F8ED"/>
          </a:solidFill>
          <a:ln xmlns:a="http://schemas.openxmlformats.org/drawingml/2006/main" w="9525">
            <a:solidFill>
              <a:srgbClr val="238755"/>
            </a:solidFill>
            <a:prstDash val="solid"/>
          </a:ln>
        </p:spPr>
      </p:sp>
      <p:sp>
        <p:nvSpPr>
          <p:cNvPr id="14" name="shape-14">
            <a:extLst xmlns:a="http://schemas.openxmlformats.org/drawingml/2006/main">
              <a:ext uri="{FF2B5EF4-FFF2-40B4-BE49-F238E27FC236}">
                <a16:creationId xmlns:a16="http://schemas.microsoft.com/office/drawing/2014/main" id="{369819FB-4061-4EB3-8A44-1BD4EFA2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8755"/>
          </a:solidFill>
          <a:ln xmlns:a="http://schemas.openxmlformats.org/drawingml/2006/main" w="0">
            <a:solidFill>
              <a:srgbClr val="238755"/>
            </a:solidFill>
            <a:prstDash val="solid"/>
          </a:ln>
        </p:spPr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836D73E9-49B5-4CA5-9F27-494FB08F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5287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238755"/>
                </a:solidFill>
                <a:latin typeface="Noto Sans CJK TC"/>
                <a:ea typeface="Noto Sans CJK TC"/>
                <a:cs typeface="Noto Sans CJK TC"/>
              </a:rPr>
              <a:t>先提供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1C966154-D855-403F-B0F0-3B95E1A2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1007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0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實際現象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錯誤訊息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接線狀態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已嘗試事項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318C2C1B-A544-4381-9268-9DEEBBC5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讓 AI 先列出 3–5 個可能原因與檢查順序，再逐項驗證。</a:t>
            </a:r>
          </a:p>
        </p:txBody>
      </p:sp>
    </p:spTree>
    <p:extLst>
      <p:ext uri="{BB962C8B-B14F-4D97-AF65-F5344CB8AC3E}">
        <p14:creationId xmlns:p14="http://schemas.microsoft.com/office/powerpoint/2010/main" val="18945591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ccent-26">
            <a:extLst xmlns:a="http://schemas.openxmlformats.org/drawingml/2006/main">
              <a:ext uri="{FF2B5EF4-FFF2-40B4-BE49-F238E27FC236}">
                <a16:creationId xmlns:a16="http://schemas.microsoft.com/office/drawing/2014/main" id="{BB4C4BA5-E8EC-4896-B721-15F3DBF3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2" name="section-26">
            <a:extLst xmlns:a="http://schemas.openxmlformats.org/drawingml/2006/main">
              <a:ext uri="{FF2B5EF4-FFF2-40B4-BE49-F238E27FC236}">
                <a16:creationId xmlns:a16="http://schemas.microsoft.com/office/drawing/2014/main" id="{8A3C50BF-01BA-4541-A110-AED38B75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CHAPTER 02｜挑戰</a:t>
            </a:r>
          </a:p>
        </p:txBody>
      </p:sp>
      <p:sp>
        <p:nvSpPr>
          <p:cNvPr id="3" name="title-26">
            <a:extLst xmlns:a="http://schemas.openxmlformats.org/drawingml/2006/main">
              <a:ext uri="{FF2B5EF4-FFF2-40B4-BE49-F238E27FC236}">
                <a16:creationId xmlns:a16="http://schemas.microsoft.com/office/drawing/2014/main" id="{857916FF-79AD-4A9B-BDC5-C6B15C84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最終挑戰：讓亮暗控制智慧遮光板</a:t>
            </a:r>
          </a:p>
        </p:txBody>
      </p:sp>
      <p:sp>
        <p:nvSpPr>
          <p:cNvPr id="4" name="page-26">
            <a:extLst xmlns:a="http://schemas.openxmlformats.org/drawingml/2006/main">
              <a:ext uri="{FF2B5EF4-FFF2-40B4-BE49-F238E27FC236}">
                <a16:creationId xmlns:a16="http://schemas.microsoft.com/office/drawing/2014/main" id="{99BD5308-01D6-4D1C-96B4-DDAC2ECC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47176"/>
                </a:solidFill>
                <a:latin typeface="Noto Sans CJK TC"/>
                <a:ea typeface="Noto Sans CJK TC"/>
                <a:cs typeface="Noto Sans CJK TC"/>
              </a:rPr>
              <a:t>26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00207174-9D5D-4B3B-A47A-2F8B8BD7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需求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C9E6EB5-CE9E-4DFC-85C1-311DF950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環境越亮，遮光板越關閉；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環境越暗，遮光板越打開。</a:t>
            </a:r>
          </a:p>
        </p:txBody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D7B88B66-030B-49F4-B2C8-9D63DA4B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619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8E5900"/>
            </a:solidFill>
            <a:prstDash val="solid"/>
          </a:ln>
        </p:spPr>
      </p:sp>
      <p:sp>
        <p:nvSpPr>
          <p:cNvPr id="8" name="shape-8">
            <a:extLst xmlns:a="http://schemas.openxmlformats.org/drawingml/2006/main">
              <a:ext uri="{FF2B5EF4-FFF2-40B4-BE49-F238E27FC236}">
                <a16:creationId xmlns:a16="http://schemas.microsoft.com/office/drawing/2014/main" id="{5071FAB7-CB3A-40DE-B925-EA34A7D9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5900"/>
          </a:solidFill>
          <a:ln xmlns:a="http://schemas.openxmlformats.org/drawingml/2006/main" w="0">
            <a:solidFill>
              <a:srgbClr val="8E5900"/>
            </a:solidFill>
            <a:prstDash val="solid"/>
          </a:ln>
        </p:spPr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5C4C6157-EBBA-4C97-BC73-54C46DE6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577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8E5900"/>
                </a:solidFill>
                <a:latin typeface="Noto Sans CJK TC"/>
                <a:ea typeface="Noto Sans CJK TC"/>
                <a:cs typeface="Noto Sans CJK TC"/>
              </a:rPr>
              <a:t>先做方向決定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98C52AA0-375B-4739-9F3B-08AFD566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5772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先看亮、暗時 lightValue 往哪個方向變，再決定 map 的最後兩個參數要用 0,180 或 180,0。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9F6CB430-BD91-4BCA-BEDE-3A62AA0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你已經擁有的工具</a:t>
            </a:r>
          </a:p>
        </p:txBody>
      </p:sp>
      <p:sp>
        <p:nvSpPr>
          <p:cNvPr id="12" name="shape-12">
            <a:extLst xmlns:a="http://schemas.openxmlformats.org/drawingml/2006/main">
              <a:ext uri="{FF2B5EF4-FFF2-40B4-BE49-F238E27FC236}">
                <a16:creationId xmlns:a16="http://schemas.microsoft.com/office/drawing/2014/main" id="{D298B528-37C6-40CF-9CA2-ABE79DF1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866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EBE7"/>
          </a:solidFill>
          <a:ln xmlns:a="http://schemas.openxmlformats.org/drawingml/2006/main" w="0">
            <a:solidFill>
              <a:srgbClr val="D6EBE7"/>
            </a:solidFill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8AF42E62-383B-484B-9EEA-10F06939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384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analogRead()</a:t>
            </a:r>
          </a:p>
        </p:txBody>
      </p:sp>
      <p:sp>
        <p:nvSpPr>
          <p:cNvPr id="14" name="shape-14">
            <a:extLst xmlns:a="http://schemas.openxmlformats.org/drawingml/2006/main">
              <a:ext uri="{FF2B5EF4-FFF2-40B4-BE49-F238E27FC236}">
                <a16:creationId xmlns:a16="http://schemas.microsoft.com/office/drawing/2014/main" id="{A1D99563-13F7-48A6-BCD6-AFAB409D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1866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EBE7"/>
          </a:solidFill>
          <a:ln xmlns:a="http://schemas.openxmlformats.org/drawingml/2006/main" w="0">
            <a:solidFill>
              <a:srgbClr val="D6EBE7"/>
            </a:solidFill>
            <a:prstDash val="solid"/>
          </a:ln>
        </p:spPr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9966DE02-6D5C-4DB4-ADC7-6961DC2D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384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Serial Monitor</a:t>
            </a:r>
          </a:p>
        </p:txBody>
      </p:sp>
      <p:sp>
        <p:nvSpPr>
          <p:cNvPr id="16" name="shape-16">
            <a:extLst xmlns:a="http://schemas.openxmlformats.org/drawingml/2006/main">
              <a:ext uri="{FF2B5EF4-FFF2-40B4-BE49-F238E27FC236}">
                <a16:creationId xmlns:a16="http://schemas.microsoft.com/office/drawing/2014/main" id="{89247B22-860A-457C-8711-92528B3C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1866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EBE7"/>
          </a:solidFill>
          <a:ln xmlns:a="http://schemas.openxmlformats.org/drawingml/2006/main" w="0">
            <a:solidFill>
              <a:srgbClr val="D6EBE7"/>
            </a:solidFill>
            <a:prstDash val="solid"/>
          </a:ln>
        </p:spPr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6BE15EED-C05C-4F16-9D1C-9F0F9BE3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766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map()</a:t>
            </a:r>
          </a:p>
        </p:txBody>
      </p:sp>
      <p:sp>
        <p:nvSpPr>
          <p:cNvPr id="18" name="shape-18">
            <a:extLst xmlns:a="http://schemas.openxmlformats.org/drawingml/2006/main">
              <a:ext uri="{FF2B5EF4-FFF2-40B4-BE49-F238E27FC236}">
                <a16:creationId xmlns:a16="http://schemas.microsoft.com/office/drawing/2014/main" id="{417D2B34-EC89-4508-8109-62BD2D13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09950"/>
            <a:ext cx="1866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EBE7"/>
          </a:solidFill>
          <a:ln xmlns:a="http://schemas.openxmlformats.org/drawingml/2006/main" w="0">
            <a:solidFill>
              <a:srgbClr val="D6EBE7"/>
            </a:solidFill>
            <a:prstDash val="solid"/>
          </a:ln>
        </p:spPr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DDBC9A29-8F41-4C71-A2D7-13FD0EF2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766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093E48"/>
                </a:solidFill>
                <a:latin typeface="Noto Sans CJK TC"/>
                <a:ea typeface="Noto Sans CJK TC"/>
                <a:cs typeface="Noto Sans CJK TC"/>
              </a:rPr>
              <a:t>motor.write()</a:t>
            </a:r>
          </a:p>
        </p:txBody>
      </p:sp>
      <p:sp>
        <p:nvSpPr>
          <p:cNvPr id="20" name="shape-20">
            <a:extLst xmlns:a="http://schemas.openxmlformats.org/drawingml/2006/main">
              <a:ext uri="{FF2B5EF4-FFF2-40B4-BE49-F238E27FC236}">
                <a16:creationId xmlns:a16="http://schemas.microsoft.com/office/drawing/2014/main" id="{1FFD45D3-E9AE-4EF6-9D10-76A9562E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1866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DFB"/>
          </a:solidFill>
          <a:ln xmlns:a="http://schemas.openxmlformats.org/drawingml/2006/main" w="0">
            <a:solidFill>
              <a:srgbClr val="F3EDFB"/>
            </a:solidFill>
            <a:prstDash val="solid"/>
          </a:ln>
        </p:spPr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6F45EE28-4510-4A67-B35B-2DD9374B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148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7B56B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7B56B4"/>
                </a:solidFill>
                <a:latin typeface="Noto Sans CJK TC"/>
                <a:ea typeface="Noto Sans CJK TC"/>
                <a:cs typeface="Noto Sans CJK TC"/>
              </a:rPr>
              <a:t>五問需求法</a:t>
            </a:r>
          </a:p>
        </p:txBody>
      </p:sp>
      <p:sp>
        <p:nvSpPr>
          <p:cNvPr id="22" name="shape-22">
            <a:extLst xmlns:a="http://schemas.openxmlformats.org/drawingml/2006/main">
              <a:ext uri="{FF2B5EF4-FFF2-40B4-BE49-F238E27FC236}">
                <a16:creationId xmlns:a16="http://schemas.microsoft.com/office/drawing/2014/main" id="{A27749B5-50DE-4AD3-AE7B-8C4252CD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48150"/>
            <a:ext cx="1866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DFB"/>
          </a:solidFill>
          <a:ln xmlns:a="http://schemas.openxmlformats.org/drawingml/2006/main" w="0">
            <a:solidFill>
              <a:srgbClr val="F3EDFB"/>
            </a:solidFill>
            <a:prstDash val="solid"/>
          </a:ln>
        </p:spPr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8EF74BAC-5F1B-42AF-9EEE-8EB5502D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148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7B56B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7B56B4"/>
                </a:solidFill>
                <a:latin typeface="Noto Sans CJK TC"/>
                <a:ea typeface="Noto Sans CJK TC"/>
                <a:cs typeface="Noto Sans CJK TC"/>
              </a:rPr>
              <a:t>測試與 Debug</a:t>
            </a:r>
          </a:p>
        </p:txBody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3E05EE4B-04D3-4AF1-B392-3B435598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340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老師不直接給完整程式；你要把理解轉成需求，再和 AI 協作。</a:t>
            </a:r>
          </a:p>
        </p:txBody>
      </p:sp>
    </p:spTree>
    <p:extLst>
      <p:ext uri="{BB962C8B-B14F-4D97-AF65-F5344CB8AC3E}">
        <p14:creationId xmlns:p14="http://schemas.microsoft.com/office/powerpoint/2010/main" val="10741127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93E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">
            <a:extLst xmlns:a="http://schemas.openxmlformats.org/drawingml/2006/main">
              <a:ext uri="{FF2B5EF4-FFF2-40B4-BE49-F238E27FC236}">
                <a16:creationId xmlns:a16="http://schemas.microsoft.com/office/drawing/2014/main" id="{6BDBBC6D-DBAA-482C-818E-362AC1D7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接下來：進入網頁實作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073BB3B-5D9B-4D63-9EC4-5656E3A5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理解 → 操作 → 觀察 → 回答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A770DF0-2F64-43D3-BA07-6D85B709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F6EE824-B8B6-4D12-86DF-C8172D2C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網站負責引導與記錄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37CD61F-73AA-489A-9145-A9EC7605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DD2D149-94F5-472A-A669-23B93072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Arduino UNO 負責驗證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1C58889-C52E-46B0-A9ED-6D211E0B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6AE2D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C6751A9-0EF5-4DBC-806C-539834C8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AI 結果永遠要測試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FADA142B-4FFA-4594-B46B-2E99664E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953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0B6A73"/>
            </a:solidFill>
            <a:prstDash val="solid"/>
          </a:ln>
        </p:spPr>
      </p:sp>
      <p:sp>
        <p:nvSpPr>
          <p:cNvPr id="10" name="shape-10">
            <a:extLst xmlns:a="http://schemas.openxmlformats.org/drawingml/2006/main">
              <a:ext uri="{FF2B5EF4-FFF2-40B4-BE49-F238E27FC236}">
                <a16:creationId xmlns:a16="http://schemas.microsoft.com/office/drawing/2014/main" id="{40C8427D-E370-44DF-9230-9E7674A9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7620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A73"/>
          </a:solidFill>
          <a:ln xmlns:a="http://schemas.openxmlformats.org/drawingml/2006/main" w="0">
            <a:solidFill>
              <a:srgbClr val="0B6A73"/>
            </a:solidFill>
            <a:prstDash val="solid"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874840C-2D2F-44A9-90A8-EDACFC05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B6A73"/>
                </a:solidFill>
                <a:latin typeface="Noto Sans CJK TC"/>
                <a:ea typeface="Noto Sans CJK TC"/>
                <a:cs typeface="Noto Sans CJK TC"/>
              </a:rPr>
              <a:t>帶著三個問題開始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44AF8A76-8537-40C8-BF56-63B368DF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4533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13272A"/>
                </a:solidFill>
                <a:latin typeface="Noto Sans CJK TC"/>
                <a:ea typeface="Noto Sans CJK TC"/>
                <a:cs typeface="Noto Sans CJK TC"/>
              </a:rPr>
              <a:t>Input 是什麼？Process 做了什麼？Output 有沒有真的符合需求？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0919F14F-830C-451D-9903-9133A3BE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CE5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BCE5DC"/>
                </a:solidFill>
                <a:latin typeface="Noto Sans CJK TC"/>
                <a:ea typeface="Noto Sans CJK TC"/>
                <a:cs typeface="Noto Sans CJK T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73175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2026-08-11T16:18:24.9940000Z</dcterms:created>
  <dcterms:modified xsi:type="dcterms:W3CDTF">2026-08-11T16:18:24.9940000Z</dcterms:modified>
</coreProperties>
</file>